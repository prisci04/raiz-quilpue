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Lovelace" charset="1" panose="00000500000000000000"/>
      <p:regular r:id="rId26"/>
    </p:embeddedFont>
    <p:embeddedFont>
      <p:font typeface="Codec Pro" charset="1" panose="00000500000000000000"/>
      <p:regular r:id="rId27"/>
    </p:embeddedFont>
    <p:embeddedFont>
      <p:font typeface="Codec Pro Bold" charset="1" panose="00000600000000000000"/>
      <p:regular r:id="rId28"/>
    </p:embeddedFont>
    <p:embeddedFont>
      <p:font typeface="Lovelace Bold" charset="1" panose="000007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16" Target="../media/image31.png" Type="http://schemas.openxmlformats.org/officeDocument/2006/relationships/image"/><Relationship Id="rId17" Target="../media/image32.svg" Type="http://schemas.openxmlformats.org/officeDocument/2006/relationships/image"/><Relationship Id="rId18" Target="../media/image33.png" Type="http://schemas.openxmlformats.org/officeDocument/2006/relationships/image"/><Relationship Id="rId19" Target="../media/image34.svg" Type="http://schemas.openxmlformats.org/officeDocument/2006/relationships/image"/><Relationship Id="rId2" Target="../media/image13.png" Type="http://schemas.openxmlformats.org/officeDocument/2006/relationships/image"/><Relationship Id="rId20" Target="../media/image35.png" Type="http://schemas.openxmlformats.org/officeDocument/2006/relationships/image"/><Relationship Id="rId21" Target="../media/image36.svg" Type="http://schemas.openxmlformats.org/officeDocument/2006/relationships/image"/><Relationship Id="rId3" Target="../media/image14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11" Target="../media/image29.png" Type="http://schemas.openxmlformats.org/officeDocument/2006/relationships/image"/><Relationship Id="rId12" Target="../media/image30.svg" Type="http://schemas.openxmlformats.org/officeDocument/2006/relationships/image"/><Relationship Id="rId13" Target="../media/image33.png" Type="http://schemas.openxmlformats.org/officeDocument/2006/relationships/image"/><Relationship Id="rId14" Target="../media/image34.svg" Type="http://schemas.openxmlformats.org/officeDocument/2006/relationships/image"/><Relationship Id="rId15" Target="../media/image35.png" Type="http://schemas.openxmlformats.org/officeDocument/2006/relationships/image"/><Relationship Id="rId16" Target="../media/image36.svg" Type="http://schemas.openxmlformats.org/officeDocument/2006/relationships/image"/><Relationship Id="rId17" Target="../media/image27.png" Type="http://schemas.openxmlformats.org/officeDocument/2006/relationships/image"/><Relationship Id="rId18" Target="../media/image28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37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43.png" Type="http://schemas.openxmlformats.org/officeDocument/2006/relationships/image"/><Relationship Id="rId13" Target="../media/image44.svg" Type="http://schemas.openxmlformats.org/officeDocument/2006/relationships/image"/><Relationship Id="rId14" Target="../media/image45.png" Type="http://schemas.openxmlformats.org/officeDocument/2006/relationships/image"/><Relationship Id="rId15" Target="../media/image46.svg" Type="http://schemas.openxmlformats.org/officeDocument/2006/relationships/image"/><Relationship Id="rId16" Target="../media/image47.png" Type="http://schemas.openxmlformats.org/officeDocument/2006/relationships/image"/><Relationship Id="rId17" Target="../media/image48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jpeg" Type="http://schemas.openxmlformats.org/officeDocument/2006/relationships/image"/><Relationship Id="rId11" Target="../media/image51.png" Type="http://schemas.openxmlformats.org/officeDocument/2006/relationships/image"/><Relationship Id="rId12" Target="../media/image52.jpeg" Type="http://schemas.openxmlformats.org/officeDocument/2006/relationships/image"/><Relationship Id="rId2" Target="../media/image20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49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271658">
            <a:off x="-3476408" y="-1250583"/>
            <a:ext cx="4793903" cy="4558566"/>
          </a:xfrm>
          <a:custGeom>
            <a:avLst/>
            <a:gdLst/>
            <a:ahLst/>
            <a:cxnLst/>
            <a:rect r="r" b="b" t="t" l="l"/>
            <a:pathLst>
              <a:path h="4558566" w="4793903">
                <a:moveTo>
                  <a:pt x="0" y="0"/>
                </a:moveTo>
                <a:lnTo>
                  <a:pt x="4793903" y="0"/>
                </a:lnTo>
                <a:lnTo>
                  <a:pt x="4793903" y="4558566"/>
                </a:lnTo>
                <a:lnTo>
                  <a:pt x="0" y="4558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2830070" y="7699927"/>
            <a:ext cx="4658799" cy="5582439"/>
          </a:xfrm>
          <a:custGeom>
            <a:avLst/>
            <a:gdLst/>
            <a:ahLst/>
            <a:cxnLst/>
            <a:rect r="r" b="b" t="t" l="l"/>
            <a:pathLst>
              <a:path h="5582439" w="4658799">
                <a:moveTo>
                  <a:pt x="0" y="0"/>
                </a:moveTo>
                <a:lnTo>
                  <a:pt x="4658799" y="0"/>
                </a:lnTo>
                <a:lnTo>
                  <a:pt x="4658799" y="5582439"/>
                </a:lnTo>
                <a:lnTo>
                  <a:pt x="0" y="55824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515088">
            <a:off x="7953531" y="8639116"/>
            <a:ext cx="4285120" cy="5936564"/>
          </a:xfrm>
          <a:custGeom>
            <a:avLst/>
            <a:gdLst/>
            <a:ahLst/>
            <a:cxnLst/>
            <a:rect r="r" b="b" t="t" l="l"/>
            <a:pathLst>
              <a:path h="5936564" w="4285120">
                <a:moveTo>
                  <a:pt x="0" y="0"/>
                </a:moveTo>
                <a:lnTo>
                  <a:pt x="4285120" y="0"/>
                </a:lnTo>
                <a:lnTo>
                  <a:pt x="4285120" y="5936563"/>
                </a:lnTo>
                <a:lnTo>
                  <a:pt x="0" y="59365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79483">
            <a:off x="-1652561" y="4708234"/>
            <a:ext cx="3772235" cy="8041586"/>
          </a:xfrm>
          <a:custGeom>
            <a:avLst/>
            <a:gdLst/>
            <a:ahLst/>
            <a:cxnLst/>
            <a:rect r="r" b="b" t="t" l="l"/>
            <a:pathLst>
              <a:path h="8041586" w="3772235">
                <a:moveTo>
                  <a:pt x="0" y="0"/>
                </a:moveTo>
                <a:lnTo>
                  <a:pt x="3772235" y="0"/>
                </a:lnTo>
                <a:lnTo>
                  <a:pt x="3772235" y="8041587"/>
                </a:lnTo>
                <a:lnTo>
                  <a:pt x="0" y="80415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5253525" y="-3885126"/>
            <a:ext cx="3385210" cy="6442442"/>
          </a:xfrm>
          <a:custGeom>
            <a:avLst/>
            <a:gdLst/>
            <a:ahLst/>
            <a:cxnLst/>
            <a:rect r="r" b="b" t="t" l="l"/>
            <a:pathLst>
              <a:path h="6442442" w="3385210">
                <a:moveTo>
                  <a:pt x="0" y="0"/>
                </a:moveTo>
                <a:lnTo>
                  <a:pt x="3385210" y="0"/>
                </a:lnTo>
                <a:lnTo>
                  <a:pt x="3385210" y="6442442"/>
                </a:lnTo>
                <a:lnTo>
                  <a:pt x="0" y="64424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3232211">
            <a:off x="1642580" y="-2880140"/>
            <a:ext cx="5096282" cy="5550407"/>
          </a:xfrm>
          <a:custGeom>
            <a:avLst/>
            <a:gdLst/>
            <a:ahLst/>
            <a:cxnLst/>
            <a:rect r="r" b="b" t="t" l="l"/>
            <a:pathLst>
              <a:path h="5550407" w="5096282">
                <a:moveTo>
                  <a:pt x="0" y="0"/>
                </a:moveTo>
                <a:lnTo>
                  <a:pt x="5096282" y="0"/>
                </a:lnTo>
                <a:lnTo>
                  <a:pt x="5096282" y="5550407"/>
                </a:lnTo>
                <a:lnTo>
                  <a:pt x="0" y="55504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348373" y="8729027"/>
            <a:ext cx="4261514" cy="7081065"/>
          </a:xfrm>
          <a:custGeom>
            <a:avLst/>
            <a:gdLst/>
            <a:ahLst/>
            <a:cxnLst/>
            <a:rect r="r" b="b" t="t" l="l"/>
            <a:pathLst>
              <a:path h="7081065" w="4261514">
                <a:moveTo>
                  <a:pt x="0" y="0"/>
                </a:moveTo>
                <a:lnTo>
                  <a:pt x="4261514" y="0"/>
                </a:lnTo>
                <a:lnTo>
                  <a:pt x="4261514" y="7081066"/>
                </a:lnTo>
                <a:lnTo>
                  <a:pt x="0" y="708106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-5150414">
            <a:off x="9013613" y="-5343912"/>
            <a:ext cx="5811621" cy="6933604"/>
          </a:xfrm>
          <a:custGeom>
            <a:avLst/>
            <a:gdLst/>
            <a:ahLst/>
            <a:cxnLst/>
            <a:rect r="r" b="b" t="t" l="l"/>
            <a:pathLst>
              <a:path h="6933604" w="5811621">
                <a:moveTo>
                  <a:pt x="0" y="0"/>
                </a:moveTo>
                <a:lnTo>
                  <a:pt x="5811621" y="0"/>
                </a:lnTo>
                <a:lnTo>
                  <a:pt x="5811621" y="6933604"/>
                </a:lnTo>
                <a:lnTo>
                  <a:pt x="0" y="693360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-5400000">
            <a:off x="16904223" y="6025503"/>
            <a:ext cx="4532090" cy="5407049"/>
          </a:xfrm>
          <a:custGeom>
            <a:avLst/>
            <a:gdLst/>
            <a:ahLst/>
            <a:cxnLst/>
            <a:rect r="r" b="b" t="t" l="l"/>
            <a:pathLst>
              <a:path h="5407049" w="4532090">
                <a:moveTo>
                  <a:pt x="0" y="0"/>
                </a:moveTo>
                <a:lnTo>
                  <a:pt x="4532090" y="0"/>
                </a:lnTo>
                <a:lnTo>
                  <a:pt x="4532090" y="5407049"/>
                </a:lnTo>
                <a:lnTo>
                  <a:pt x="0" y="540704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696960" y="3919884"/>
            <a:ext cx="12894080" cy="3294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303"/>
              </a:lnSpc>
            </a:pPr>
            <a:r>
              <a:rPr lang="en-US" sz="14305" spc="-829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Plataforma Web Inteligente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97350" y="2776647"/>
            <a:ext cx="5293300" cy="517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4"/>
              </a:lnSpc>
            </a:pPr>
            <a:r>
              <a:rPr lang="en-US" sz="3300" spc="-115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Presentación de Capstone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9697051">
            <a:off x="16936808" y="1387038"/>
            <a:ext cx="5538592" cy="5266697"/>
          </a:xfrm>
          <a:custGeom>
            <a:avLst/>
            <a:gdLst/>
            <a:ahLst/>
            <a:cxnLst/>
            <a:rect r="r" b="b" t="t" l="l"/>
            <a:pathLst>
              <a:path h="5266697" w="5538592">
                <a:moveTo>
                  <a:pt x="0" y="0"/>
                </a:moveTo>
                <a:lnTo>
                  <a:pt x="5538592" y="0"/>
                </a:lnTo>
                <a:lnTo>
                  <a:pt x="5538592" y="5266697"/>
                </a:lnTo>
                <a:lnTo>
                  <a:pt x="0" y="5266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342190" y="7195090"/>
            <a:ext cx="13603620" cy="517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4"/>
              </a:lnSpc>
            </a:pPr>
            <a:r>
              <a:rPr lang="en-US" sz="3300" spc="-115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Difusión patrimonial y gestión de actividades culturales de Raíz Quilpué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2000" y="827913"/>
            <a:ext cx="7620000" cy="1771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67"/>
              </a:lnSpc>
            </a:pPr>
            <a:r>
              <a:rPr lang="en-US" sz="7200" spc="-417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Tabla de contenido</a:t>
            </a:r>
          </a:p>
        </p:txBody>
      </p:sp>
      <p:sp>
        <p:nvSpPr>
          <p:cNvPr name="AutoShape 3" id="3"/>
          <p:cNvSpPr/>
          <p:nvPr/>
        </p:nvSpPr>
        <p:spPr>
          <a:xfrm>
            <a:off x="762000" y="2733675"/>
            <a:ext cx="2476500" cy="0"/>
          </a:xfrm>
          <a:prstGeom prst="line">
            <a:avLst/>
          </a:prstGeom>
          <a:ln cap="flat" w="38100">
            <a:solidFill>
              <a:srgbClr val="A8AF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881062" y="3209925"/>
            <a:ext cx="571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8AF9A"/>
                </a:solidFill>
                <a:latin typeface="Lovelace"/>
                <a:ea typeface="Lovelace"/>
                <a:cs typeface="Lovelace"/>
                <a:sym typeface="Lovelace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4938" y="3200400"/>
            <a:ext cx="131830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Contexto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50974" y="3200400"/>
            <a:ext cx="571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EDCFD4"/>
                </a:solidFill>
                <a:latin typeface="Lovelace"/>
                <a:ea typeface="Lovelace"/>
                <a:cs typeface="Lovelace"/>
                <a:sym typeface="Lovelace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74849" y="3190875"/>
            <a:ext cx="129876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Problema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62925" y="3200400"/>
            <a:ext cx="571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E5E2B9"/>
                </a:solidFill>
                <a:latin typeface="Lovelace"/>
                <a:ea typeface="Lovelace"/>
                <a:cs typeface="Lovelace"/>
                <a:sym typeface="Lovelace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86800" y="3190875"/>
            <a:ext cx="143555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Necesidad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44425" y="3209925"/>
            <a:ext cx="571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DEDBCE"/>
                </a:solidFill>
                <a:latin typeface="Lovelace"/>
                <a:ea typeface="Lovelace"/>
                <a:cs typeface="Lovelace"/>
                <a:sym typeface="Lovelace"/>
              </a:rPr>
              <a:t>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68300" y="3200400"/>
            <a:ext cx="116196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Solución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1062" y="3733800"/>
            <a:ext cx="571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8AF9A"/>
                </a:solidFill>
                <a:latin typeface="Lovelace"/>
                <a:ea typeface="Lovelace"/>
                <a:cs typeface="Lovelace"/>
                <a:sym typeface="Lovelace"/>
              </a:rPr>
              <a:t>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4938" y="3724275"/>
            <a:ext cx="2095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Requerimientos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52856" y="3733800"/>
            <a:ext cx="571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EDCFD4"/>
                </a:solidFill>
                <a:latin typeface="Lovelace"/>
                <a:ea typeface="Lovelace"/>
                <a:cs typeface="Lovelace"/>
                <a:sym typeface="Lovelace"/>
              </a:rPr>
              <a:t>06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76731" y="3724275"/>
            <a:ext cx="96654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Epicas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62925" y="3733800"/>
            <a:ext cx="571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E5E2B9"/>
                </a:solidFill>
                <a:latin typeface="Lovelace"/>
                <a:ea typeface="Lovelace"/>
                <a:cs typeface="Lovelace"/>
                <a:sym typeface="Lovelace"/>
              </a:rPr>
              <a:t>07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686800" y="3724275"/>
            <a:ext cx="280350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Historias de usuarios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44425" y="3743325"/>
            <a:ext cx="571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DEDBCE"/>
                </a:solidFill>
                <a:latin typeface="Lovelace"/>
                <a:ea typeface="Lovelace"/>
                <a:cs typeface="Lovelace"/>
                <a:sym typeface="Lovelace"/>
              </a:rPr>
              <a:t>08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15925" y="3695700"/>
            <a:ext cx="170914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Arquitectura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1063" y="4286250"/>
            <a:ext cx="571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8AF9A"/>
                </a:solidFill>
                <a:latin typeface="Lovelace"/>
                <a:ea typeface="Lovelace"/>
                <a:cs typeface="Lovelace"/>
                <a:sym typeface="Lovelace"/>
              </a:rPr>
              <a:t>09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4938" y="4276725"/>
            <a:ext cx="168960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Metodología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952856" y="4286250"/>
            <a:ext cx="571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EDCFD4"/>
                </a:solidFill>
                <a:latin typeface="Lovelace"/>
                <a:ea typeface="Lovelace"/>
                <a:cs typeface="Lovelace"/>
                <a:sym typeface="Lovelace"/>
              </a:rPr>
              <a:t>10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76731" y="4276725"/>
            <a:ext cx="77112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Roles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62781" y="4286250"/>
            <a:ext cx="571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E5E2B9"/>
                </a:solidFill>
                <a:latin typeface="Lovelace"/>
                <a:ea typeface="Lovelace"/>
                <a:cs typeface="Lovelace"/>
                <a:sym typeface="Lovelace"/>
              </a:rPr>
              <a:t>11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686656" y="4276725"/>
            <a:ext cx="14357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Evidencias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44425" y="4286250"/>
            <a:ext cx="571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DEDBCE"/>
                </a:solidFill>
                <a:latin typeface="Lovelace"/>
                <a:ea typeface="Lovelace"/>
                <a:cs typeface="Lovelace"/>
                <a:sym typeface="Lovelace"/>
              </a:rPr>
              <a:t>12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068300" y="4276725"/>
            <a:ext cx="282304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Evidencias por sprint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81063" y="4838700"/>
            <a:ext cx="571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8AF9A"/>
                </a:solidFill>
                <a:latin typeface="Lovelace"/>
                <a:ea typeface="Lovelace"/>
                <a:cs typeface="Lovelace"/>
                <a:sym typeface="Lovelace"/>
              </a:rPr>
              <a:t>13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04938" y="4829175"/>
            <a:ext cx="266671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Definición de sprint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952856" y="4829175"/>
            <a:ext cx="571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EDCFD4"/>
                </a:solidFill>
                <a:latin typeface="Lovelace"/>
                <a:ea typeface="Lovelace"/>
                <a:cs typeface="Lovelace"/>
                <a:sym typeface="Lovelace"/>
              </a:rPr>
              <a:t>14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76731" y="4819650"/>
            <a:ext cx="180975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Cronograma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162925" y="4829175"/>
            <a:ext cx="571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E5E2B9"/>
                </a:solidFill>
                <a:latin typeface="Lovelace"/>
                <a:ea typeface="Lovelace"/>
                <a:cs typeface="Lovelace"/>
                <a:sym typeface="Lovelace"/>
              </a:rPr>
              <a:t>15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686800" y="4819650"/>
            <a:ext cx="184594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Conclusiones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544425" y="4838700"/>
            <a:ext cx="571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DEDBCE"/>
                </a:solidFill>
                <a:latin typeface="Lovelace"/>
                <a:ea typeface="Lovelace"/>
                <a:cs typeface="Lovelace"/>
                <a:sym typeface="Lovelace"/>
              </a:rPr>
              <a:t>16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068300" y="4829175"/>
            <a:ext cx="129876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Refle</a:t>
            </a: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xión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-9697051">
            <a:off x="16072015" y="5882449"/>
            <a:ext cx="5538592" cy="5266697"/>
          </a:xfrm>
          <a:custGeom>
            <a:avLst/>
            <a:gdLst/>
            <a:ahLst/>
            <a:cxnLst/>
            <a:rect r="r" b="b" t="t" l="l"/>
            <a:pathLst>
              <a:path h="5266697" w="5538592">
                <a:moveTo>
                  <a:pt x="0" y="0"/>
                </a:moveTo>
                <a:lnTo>
                  <a:pt x="5538591" y="0"/>
                </a:lnTo>
                <a:lnTo>
                  <a:pt x="5538591" y="5266697"/>
                </a:lnTo>
                <a:lnTo>
                  <a:pt x="0" y="5266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879483">
            <a:off x="16000219" y="-2702071"/>
            <a:ext cx="3772235" cy="8041586"/>
          </a:xfrm>
          <a:custGeom>
            <a:avLst/>
            <a:gdLst/>
            <a:ahLst/>
            <a:cxnLst/>
            <a:rect r="r" b="b" t="t" l="l"/>
            <a:pathLst>
              <a:path h="8041586" w="3772235">
                <a:moveTo>
                  <a:pt x="0" y="0"/>
                </a:moveTo>
                <a:lnTo>
                  <a:pt x="3772235" y="0"/>
                </a:lnTo>
                <a:lnTo>
                  <a:pt x="3772235" y="8041586"/>
                </a:lnTo>
                <a:lnTo>
                  <a:pt x="0" y="80415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7335500" y="9725025"/>
            <a:ext cx="571500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3B3B3B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524000"/>
            <a:ext cx="76200" cy="1905000"/>
            <a:chOff x="0" y="0"/>
            <a:chExt cx="101600" cy="254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A8AF9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09700" y="1735137"/>
            <a:ext cx="5715000" cy="89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7000" spc="-406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Contexto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09700" y="2667000"/>
            <a:ext cx="3810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A8AF9A"/>
                </a:solidFill>
                <a:latin typeface="Codec Pro"/>
                <a:ea typeface="Codec Pro"/>
                <a:cs typeface="Codec Pro"/>
                <a:sym typeface="Codec Pro"/>
              </a:rPr>
              <a:t>Raíz Quilpué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4450" y="3343275"/>
            <a:ext cx="7810500" cy="3682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Raíz Quilpué es una corporación cultural sin fines de lucro que nace desde el territorio con el propósito de rescatar, preservar y difundir la historia, cultura e identidad quilpueína.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La organización busca fortalecer el vínculo entre la comunidad y su territorio mediante actividades culturales, iniciativas patrimoniales, participación ciudadana y espacios de encuentro.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Su trabajo se orienta a poner en valor las historias, recuerdos y experiencias de quienes habitan Quilpué, proyectándose a futuro hacia la creación de un museo y centro cultural comunitario dedicado a la memoria, el arte, la educación y la participación ciudadana.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0" y="1524000"/>
            <a:ext cx="6477000" cy="6477000"/>
            <a:chOff x="0" y="0"/>
            <a:chExt cx="8636000" cy="863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36000" cy="8636000"/>
            </a:xfrm>
            <a:custGeom>
              <a:avLst/>
              <a:gdLst/>
              <a:ahLst/>
              <a:cxnLst/>
              <a:rect r="r" b="b" t="t" l="l"/>
              <a:pathLst>
                <a:path h="8636000" w="8636000">
                  <a:moveTo>
                    <a:pt x="863600" y="0"/>
                  </a:moveTo>
                  <a:lnTo>
                    <a:pt x="7772400" y="0"/>
                  </a:lnTo>
                  <a:cubicBezTo>
                    <a:pt x="8249353" y="0"/>
                    <a:pt x="8636000" y="386647"/>
                    <a:pt x="8636000" y="863600"/>
                  </a:cubicBezTo>
                  <a:lnTo>
                    <a:pt x="8636000" y="7772400"/>
                  </a:lnTo>
                  <a:cubicBezTo>
                    <a:pt x="8636000" y="8249353"/>
                    <a:pt x="8249353" y="8636000"/>
                    <a:pt x="7772400" y="8636000"/>
                  </a:cubicBezTo>
                  <a:lnTo>
                    <a:pt x="863600" y="8636000"/>
                  </a:lnTo>
                  <a:cubicBezTo>
                    <a:pt x="386647" y="8636000"/>
                    <a:pt x="0" y="8249353"/>
                    <a:pt x="0" y="7772400"/>
                  </a:cubicBezTo>
                  <a:lnTo>
                    <a:pt x="0" y="863600"/>
                  </a:lnTo>
                  <a:cubicBezTo>
                    <a:pt x="0" y="386647"/>
                    <a:pt x="386647" y="0"/>
                    <a:pt x="863600" y="0"/>
                  </a:cubicBezTo>
                  <a:close/>
                </a:path>
              </a:pathLst>
            </a:custGeom>
            <a:solidFill>
              <a:srgbClr val="E5E2B9">
                <a:alpha val="4000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636000" cy="867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668000" y="1905000"/>
            <a:ext cx="6853768" cy="6777336"/>
          </a:xfrm>
          <a:custGeom>
            <a:avLst/>
            <a:gdLst/>
            <a:ahLst/>
            <a:cxnLst/>
            <a:rect r="r" b="b" t="t" l="l"/>
            <a:pathLst>
              <a:path h="6777336" w="6853768">
                <a:moveTo>
                  <a:pt x="0" y="0"/>
                </a:moveTo>
                <a:lnTo>
                  <a:pt x="6853768" y="0"/>
                </a:lnTo>
                <a:lnTo>
                  <a:pt x="6853768" y="6777336"/>
                </a:lnTo>
                <a:lnTo>
                  <a:pt x="0" y="6777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63" r="0" b="-563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2928014" y="6935453"/>
            <a:ext cx="4261514" cy="7081065"/>
          </a:xfrm>
          <a:custGeom>
            <a:avLst/>
            <a:gdLst/>
            <a:ahLst/>
            <a:cxnLst/>
            <a:rect r="r" b="b" t="t" l="l"/>
            <a:pathLst>
              <a:path h="7081065" w="4261514">
                <a:moveTo>
                  <a:pt x="0" y="0"/>
                </a:moveTo>
                <a:lnTo>
                  <a:pt x="4261514" y="0"/>
                </a:lnTo>
                <a:lnTo>
                  <a:pt x="4261514" y="7081065"/>
                </a:lnTo>
                <a:lnTo>
                  <a:pt x="0" y="70810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17335500" y="9725025"/>
            <a:ext cx="571500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3B3B3B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73398" y="4437645"/>
            <a:ext cx="5537602" cy="3573739"/>
          </a:xfrm>
          <a:custGeom>
            <a:avLst/>
            <a:gdLst/>
            <a:ahLst/>
            <a:cxnLst/>
            <a:rect r="r" b="b" t="t" l="l"/>
            <a:pathLst>
              <a:path h="3573739" w="5537602">
                <a:moveTo>
                  <a:pt x="0" y="0"/>
                </a:moveTo>
                <a:lnTo>
                  <a:pt x="5537602" y="0"/>
                </a:lnTo>
                <a:lnTo>
                  <a:pt x="5537602" y="3573739"/>
                </a:lnTo>
                <a:lnTo>
                  <a:pt x="0" y="35737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228" r="0" b="-3172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477000" y="6286500"/>
            <a:ext cx="76200" cy="76200"/>
            <a:chOff x="0" y="0"/>
            <a:chExt cx="101600" cy="101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EDCF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273398" y="5377845"/>
            <a:ext cx="5499502" cy="1893510"/>
            <a:chOff x="0" y="0"/>
            <a:chExt cx="1448429" cy="4987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8429" cy="498702"/>
            </a:xfrm>
            <a:custGeom>
              <a:avLst/>
              <a:gdLst/>
              <a:ahLst/>
              <a:cxnLst/>
              <a:rect r="r" b="b" t="t" l="l"/>
              <a:pathLst>
                <a:path h="498702" w="1448429">
                  <a:moveTo>
                    <a:pt x="0" y="0"/>
                  </a:moveTo>
                  <a:lnTo>
                    <a:pt x="1448429" y="0"/>
                  </a:lnTo>
                  <a:lnTo>
                    <a:pt x="1448429" y="498702"/>
                  </a:lnTo>
                  <a:lnTo>
                    <a:pt x="0" y="4987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448429" cy="508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296775" y="4437645"/>
            <a:ext cx="4962525" cy="3573739"/>
          </a:xfrm>
          <a:custGeom>
            <a:avLst/>
            <a:gdLst/>
            <a:ahLst/>
            <a:cxnLst/>
            <a:rect r="r" b="b" t="t" l="l"/>
            <a:pathLst>
              <a:path h="3573739" w="4962525">
                <a:moveTo>
                  <a:pt x="0" y="0"/>
                </a:moveTo>
                <a:lnTo>
                  <a:pt x="4962525" y="0"/>
                </a:lnTo>
                <a:lnTo>
                  <a:pt x="4962525" y="3573739"/>
                </a:lnTo>
                <a:lnTo>
                  <a:pt x="0" y="35737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5623" r="0" b="-23237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499036" y="3105150"/>
            <a:ext cx="2485380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>
                <a:solidFill>
                  <a:srgbClr val="E5E2B9"/>
                </a:solidFill>
                <a:latin typeface="Lovelace"/>
                <a:ea typeface="Lovelace"/>
                <a:cs typeface="Lovelace"/>
                <a:sym typeface="Lovelace"/>
              </a:rPr>
              <a:t>03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277725" y="5243490"/>
            <a:ext cx="4981575" cy="1893510"/>
            <a:chOff x="0" y="0"/>
            <a:chExt cx="1312020" cy="4987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2020" cy="498702"/>
            </a:xfrm>
            <a:custGeom>
              <a:avLst/>
              <a:gdLst/>
              <a:ahLst/>
              <a:cxnLst/>
              <a:rect r="r" b="b" t="t" l="l"/>
              <a:pathLst>
                <a:path h="498702" w="1312020">
                  <a:moveTo>
                    <a:pt x="0" y="0"/>
                  </a:moveTo>
                  <a:lnTo>
                    <a:pt x="1312020" y="0"/>
                  </a:lnTo>
                  <a:lnTo>
                    <a:pt x="1312020" y="498702"/>
                  </a:lnTo>
                  <a:lnTo>
                    <a:pt x="0" y="4987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312020" cy="508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953739" y="4714875"/>
            <a:ext cx="364859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Patrimonio poco accesible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811000" y="6286500"/>
            <a:ext cx="76200" cy="76200"/>
            <a:chOff x="0" y="0"/>
            <a:chExt cx="101600" cy="101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E5E2B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1515088">
            <a:off x="16424691" y="-887486"/>
            <a:ext cx="4285120" cy="5936564"/>
          </a:xfrm>
          <a:custGeom>
            <a:avLst/>
            <a:gdLst/>
            <a:ahLst/>
            <a:cxnLst/>
            <a:rect r="r" b="b" t="t" l="l"/>
            <a:pathLst>
              <a:path h="5936564" w="4285120">
                <a:moveTo>
                  <a:pt x="0" y="0"/>
                </a:moveTo>
                <a:lnTo>
                  <a:pt x="4285119" y="0"/>
                </a:lnTo>
                <a:lnTo>
                  <a:pt x="4285119" y="5936564"/>
                </a:lnTo>
                <a:lnTo>
                  <a:pt x="0" y="5936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1369738">
            <a:off x="14511498" y="8424359"/>
            <a:ext cx="5495603" cy="6556577"/>
          </a:xfrm>
          <a:custGeom>
            <a:avLst/>
            <a:gdLst/>
            <a:ahLst/>
            <a:cxnLst/>
            <a:rect r="r" b="b" t="t" l="l"/>
            <a:pathLst>
              <a:path h="6556577" w="5495603">
                <a:moveTo>
                  <a:pt x="0" y="0"/>
                </a:moveTo>
                <a:lnTo>
                  <a:pt x="5495604" y="0"/>
                </a:lnTo>
                <a:lnTo>
                  <a:pt x="5495604" y="6556577"/>
                </a:lnTo>
                <a:lnTo>
                  <a:pt x="0" y="65565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2700000">
            <a:off x="-140539" y="7795177"/>
            <a:ext cx="4658799" cy="5582439"/>
          </a:xfrm>
          <a:custGeom>
            <a:avLst/>
            <a:gdLst/>
            <a:ahLst/>
            <a:cxnLst/>
            <a:rect r="r" b="b" t="t" l="l"/>
            <a:pathLst>
              <a:path h="5582439" w="4658799">
                <a:moveTo>
                  <a:pt x="0" y="0"/>
                </a:moveTo>
                <a:lnTo>
                  <a:pt x="4658799" y="0"/>
                </a:lnTo>
                <a:lnTo>
                  <a:pt x="4658799" y="5582439"/>
                </a:lnTo>
                <a:lnTo>
                  <a:pt x="0" y="55824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69515" y="4437645"/>
            <a:ext cx="4808558" cy="3573739"/>
          </a:xfrm>
          <a:custGeom>
            <a:avLst/>
            <a:gdLst/>
            <a:ahLst/>
            <a:cxnLst/>
            <a:rect r="r" b="b" t="t" l="l"/>
            <a:pathLst>
              <a:path h="3573739" w="4808558">
                <a:moveTo>
                  <a:pt x="0" y="0"/>
                </a:moveTo>
                <a:lnTo>
                  <a:pt x="4808558" y="0"/>
                </a:lnTo>
                <a:lnTo>
                  <a:pt x="4808558" y="3573739"/>
                </a:lnTo>
                <a:lnTo>
                  <a:pt x="0" y="3573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5166" r="-2484" b="-22728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769515" y="5377845"/>
            <a:ext cx="4808558" cy="1893510"/>
            <a:chOff x="0" y="0"/>
            <a:chExt cx="1266451" cy="4987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66451" cy="498702"/>
            </a:xfrm>
            <a:custGeom>
              <a:avLst/>
              <a:gdLst/>
              <a:ahLst/>
              <a:cxnLst/>
              <a:rect r="r" b="b" t="t" l="l"/>
              <a:pathLst>
                <a:path h="498702" w="1266451">
                  <a:moveTo>
                    <a:pt x="0" y="0"/>
                  </a:moveTo>
                  <a:lnTo>
                    <a:pt x="1266451" y="0"/>
                  </a:lnTo>
                  <a:lnTo>
                    <a:pt x="1266451" y="498702"/>
                  </a:lnTo>
                  <a:lnTo>
                    <a:pt x="0" y="4987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1266451" cy="508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28700" y="1272539"/>
            <a:ext cx="4648200" cy="779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0"/>
              </a:lnSpc>
            </a:pPr>
            <a:r>
              <a:rPr lang="en-US" sz="6000" spc="-348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Problema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281016" y="3105150"/>
            <a:ext cx="1905000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>
                <a:solidFill>
                  <a:srgbClr val="A8AF9A"/>
                </a:solidFill>
                <a:latin typeface="Lovelace"/>
                <a:ea typeface="Lovelace"/>
                <a:cs typeface="Lovelace"/>
                <a:sym typeface="Lovelace"/>
              </a:rPr>
              <a:t>01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64659" y="4761495"/>
            <a:ext cx="301826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Informacion dispersa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01692" y="5522204"/>
            <a:ext cx="4328730" cy="130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59"/>
              </a:lnSpc>
            </a:pPr>
            <a:r>
              <a:rPr lang="en-US" sz="15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L</a:t>
            </a:r>
            <a:r>
              <a:rPr lang="en-US" sz="15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a información institucional, las actividades y el contenido patrimonial se encuentran distribuidos en distintos medios, dificultando su consulta y difusión.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682748" y="3105150"/>
            <a:ext cx="2319557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>
                <a:solidFill>
                  <a:srgbClr val="EDCFD4"/>
                </a:solidFill>
                <a:latin typeface="Lovelace"/>
                <a:ea typeface="Lovelace"/>
                <a:cs typeface="Lovelace"/>
                <a:sym typeface="Lovelace"/>
              </a:rPr>
              <a:t>02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481308" y="4761495"/>
            <a:ext cx="512178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Dificultad para gestionar actividades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660949" y="5522204"/>
            <a:ext cx="4762500" cy="130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59"/>
              </a:lnSpc>
            </a:pPr>
            <a:r>
              <a:rPr lang="en-US" sz="15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Las inscripciones, cupos y registros de participantes se gestionan mediante procesos separados, dificultando su seguimiento y organización.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717080" y="5326010"/>
            <a:ext cx="4102865" cy="163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59"/>
              </a:lnSpc>
            </a:pPr>
            <a:r>
              <a:rPr lang="en-US" sz="15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Fotografías, re</a:t>
            </a:r>
            <a:r>
              <a:rPr lang="en-US" sz="15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latos y antecedentes históricos de Quilpué se encuentran distribuidos en distintas fuentes, dificultando su consulta por parte de la comunidad.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335500" y="9725025"/>
            <a:ext cx="571500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3B3B3B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3000" y="1048700"/>
            <a:ext cx="7620000" cy="779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0"/>
              </a:lnSpc>
            </a:pPr>
            <a:r>
              <a:rPr lang="en-US" sz="6000" spc="-348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Necesidad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43000" y="1781350"/>
            <a:ext cx="12148565" cy="36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A partir de estos problemas, Raíz Quilpué necesita contar con un espacio digital centralizado que permita: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43000" y="3093895"/>
            <a:ext cx="57150" cy="2095500"/>
            <a:chOff x="0" y="0"/>
            <a:chExt cx="76200" cy="279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A8AF9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762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24000" y="3236770"/>
            <a:ext cx="1428750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A8AF9A"/>
                </a:solidFill>
                <a:latin typeface="Lovelace"/>
                <a:ea typeface="Lovelace"/>
                <a:cs typeface="Lovelace"/>
                <a:sym typeface="Lovelace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4000" y="3892090"/>
            <a:ext cx="6858000" cy="35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Centralizar el contenido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4000" y="4244515"/>
            <a:ext cx="68580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Reunir información histórica, patrimonial, noticias y material multimedia en un solo lugar.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715500" y="3093895"/>
            <a:ext cx="57150" cy="2095500"/>
            <a:chOff x="0" y="0"/>
            <a:chExt cx="76200" cy="279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EDCFD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62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096500" y="3236770"/>
            <a:ext cx="1428750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EDCFD4"/>
                </a:solidFill>
                <a:latin typeface="Lovelace"/>
                <a:ea typeface="Lovelace"/>
                <a:cs typeface="Lovelace"/>
                <a:sym typeface="Lovelace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96500" y="3892090"/>
            <a:ext cx="6858000" cy="35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Facilitar el acceso a la información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96500" y="4244515"/>
            <a:ext cx="68580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Permitir que la comunidad pueda conocer fácilmente la historia, cultura, patrimonio y actividades de Quilpué.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43000" y="6141895"/>
            <a:ext cx="57150" cy="2095500"/>
            <a:chOff x="0" y="0"/>
            <a:chExt cx="76200" cy="279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2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E5E2B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62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24000" y="6284770"/>
            <a:ext cx="1428750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E5E2B9"/>
                </a:solidFill>
                <a:latin typeface="Lovelace"/>
                <a:ea typeface="Lovelace"/>
                <a:cs typeface="Lovelace"/>
                <a:sym typeface="Lovelace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24000" y="6940090"/>
            <a:ext cx="6858000" cy="35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Mejorar la gestión de actividades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24000" y="7294420"/>
            <a:ext cx="68580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Facilitar la publicación de actividades, las inscripciones, el control de cupos y la consulta de participantes.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715500" y="6141895"/>
            <a:ext cx="57150" cy="2095500"/>
            <a:chOff x="0" y="0"/>
            <a:chExt cx="76200" cy="2794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2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DEDBC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62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096500" y="6284770"/>
            <a:ext cx="1428750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DEDBCE"/>
                </a:solidFill>
                <a:latin typeface="Lovelace"/>
                <a:ea typeface="Lovelace"/>
                <a:cs typeface="Lovelace"/>
                <a:sym typeface="Lovelace"/>
              </a:rPr>
              <a:t>04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96500" y="6975097"/>
            <a:ext cx="6858000" cy="35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Facilitar la consulta y difusión del patrimonio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96500" y="7329427"/>
            <a:ext cx="68580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Ofrecer nuevas formas de explorar y consultar información histórica y cultural, acercando el patrimonio de Quilpué a la comunidad.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-2700000">
            <a:off x="-140539" y="7795177"/>
            <a:ext cx="4658799" cy="5582439"/>
          </a:xfrm>
          <a:custGeom>
            <a:avLst/>
            <a:gdLst/>
            <a:ahLst/>
            <a:cxnLst/>
            <a:rect r="r" b="b" t="t" l="l"/>
            <a:pathLst>
              <a:path h="5582439" w="4658799">
                <a:moveTo>
                  <a:pt x="0" y="0"/>
                </a:moveTo>
                <a:lnTo>
                  <a:pt x="4658799" y="0"/>
                </a:lnTo>
                <a:lnTo>
                  <a:pt x="4658799" y="5582439"/>
                </a:lnTo>
                <a:lnTo>
                  <a:pt x="0" y="5582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320267" y="8824277"/>
            <a:ext cx="4261514" cy="7081065"/>
          </a:xfrm>
          <a:custGeom>
            <a:avLst/>
            <a:gdLst/>
            <a:ahLst/>
            <a:cxnLst/>
            <a:rect r="r" b="b" t="t" l="l"/>
            <a:pathLst>
              <a:path h="7081065" w="4261514">
                <a:moveTo>
                  <a:pt x="0" y="0"/>
                </a:moveTo>
                <a:lnTo>
                  <a:pt x="4261513" y="0"/>
                </a:lnTo>
                <a:lnTo>
                  <a:pt x="4261513" y="7081066"/>
                </a:lnTo>
                <a:lnTo>
                  <a:pt x="0" y="7081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0" id="30"/>
          <p:cNvSpPr txBox="true"/>
          <p:nvPr/>
        </p:nvSpPr>
        <p:spPr>
          <a:xfrm rot="0">
            <a:off x="17335500" y="9725025"/>
            <a:ext cx="571500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3B3B3B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04187" y="1162050"/>
            <a:ext cx="7679627" cy="779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40"/>
              </a:lnSpc>
            </a:pPr>
            <a:r>
              <a:rPr lang="en-US" sz="6000" spc="-348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Propuesta de Solución</a:t>
            </a:r>
          </a:p>
        </p:txBody>
      </p:sp>
      <p:sp>
        <p:nvSpPr>
          <p:cNvPr name="AutoShape 3" id="3"/>
          <p:cNvSpPr/>
          <p:nvPr/>
        </p:nvSpPr>
        <p:spPr>
          <a:xfrm>
            <a:off x="-886757" y="4100568"/>
            <a:ext cx="20061513" cy="0"/>
          </a:xfrm>
          <a:prstGeom prst="line">
            <a:avLst/>
          </a:prstGeom>
          <a:ln cap="flat" w="28575">
            <a:solidFill>
              <a:srgbClr val="3B3B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581780" y="3849540"/>
            <a:ext cx="502056" cy="50205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EDBC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7000" y="127000"/>
              <a:ext cx="558800" cy="558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745517" y="3849540"/>
            <a:ext cx="502056" cy="50205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BD2BA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27000" y="127000"/>
              <a:ext cx="558800" cy="558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87511" y="3849540"/>
            <a:ext cx="502056" cy="50205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AD1D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127000"/>
              <a:ext cx="558800" cy="558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87511" y="4708342"/>
            <a:ext cx="2197323" cy="96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3600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Portal cultural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63820" y="4708342"/>
            <a:ext cx="2197323" cy="963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3600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Portal Admin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18385" y="4708342"/>
            <a:ext cx="2523837" cy="963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3600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Módulo Inteligente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63820" y="5826138"/>
            <a:ext cx="2778663" cy="314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8"/>
              </a:lnSpc>
            </a:pPr>
            <a:r>
              <a:rPr lang="en-US" b="true" sz="2099">
                <a:solidFill>
                  <a:srgbClr val="3B3B3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</a:t>
            </a:r>
            <a:r>
              <a:rPr lang="en-US" b="true" sz="2099">
                <a:solidFill>
                  <a:srgbClr val="3B3B3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entro de control para gestionar publicaciones, participantes, aforos, reportes y la base de datos de manera centralizada.</a:t>
            </a:r>
          </a:p>
          <a:p>
            <a:pPr algn="just">
              <a:lnSpc>
                <a:spcPts val="3128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3618622" y="5826138"/>
            <a:ext cx="2778663" cy="314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8"/>
              </a:lnSpc>
            </a:pPr>
            <a:r>
              <a:rPr lang="en-US" b="true" sz="2099">
                <a:solidFill>
                  <a:srgbClr val="3B3B3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Asistent</a:t>
            </a:r>
            <a:r>
              <a:rPr lang="en-US" b="true" sz="2099">
                <a:solidFill>
                  <a:srgbClr val="3B3B3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 basado en Inteligencia Artificial orientado a responder consultas sobre historia, cultura y patrimonio de Quilpué.</a:t>
            </a:r>
          </a:p>
          <a:p>
            <a:pPr algn="just">
              <a:lnSpc>
                <a:spcPts val="3128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887511" y="5826138"/>
            <a:ext cx="2778663" cy="314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8"/>
              </a:lnSpc>
            </a:pPr>
            <a:r>
              <a:rPr lang="en-US" b="true" sz="2099">
                <a:solidFill>
                  <a:srgbClr val="3B3B3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</a:t>
            </a:r>
            <a:r>
              <a:rPr lang="en-US" b="true" sz="2099">
                <a:solidFill>
                  <a:srgbClr val="3B3B3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itio integrado con contenidos culturales, noticias, calendario interactivo e inscripciones fáciles a las actividades.</a:t>
            </a:r>
          </a:p>
          <a:p>
            <a:pPr algn="just">
              <a:lnSpc>
                <a:spcPts val="3128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-2700000">
            <a:off x="-140539" y="7795177"/>
            <a:ext cx="4658799" cy="5582439"/>
          </a:xfrm>
          <a:custGeom>
            <a:avLst/>
            <a:gdLst/>
            <a:ahLst/>
            <a:cxnLst/>
            <a:rect r="r" b="b" t="t" l="l"/>
            <a:pathLst>
              <a:path h="5582439" w="4658799">
                <a:moveTo>
                  <a:pt x="0" y="0"/>
                </a:moveTo>
                <a:lnTo>
                  <a:pt x="4658799" y="0"/>
                </a:lnTo>
                <a:lnTo>
                  <a:pt x="4658799" y="5582439"/>
                </a:lnTo>
                <a:lnTo>
                  <a:pt x="0" y="5582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1515088">
            <a:off x="17032197" y="-645538"/>
            <a:ext cx="4285120" cy="5936564"/>
          </a:xfrm>
          <a:custGeom>
            <a:avLst/>
            <a:gdLst/>
            <a:ahLst/>
            <a:cxnLst/>
            <a:rect r="r" b="b" t="t" l="l"/>
            <a:pathLst>
              <a:path h="5936564" w="4285120">
                <a:moveTo>
                  <a:pt x="0" y="0"/>
                </a:moveTo>
                <a:lnTo>
                  <a:pt x="4285120" y="0"/>
                </a:lnTo>
                <a:lnTo>
                  <a:pt x="4285120" y="5936564"/>
                </a:lnTo>
                <a:lnTo>
                  <a:pt x="0" y="5936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1369738">
            <a:off x="14710582" y="8366122"/>
            <a:ext cx="5495603" cy="6556577"/>
          </a:xfrm>
          <a:custGeom>
            <a:avLst/>
            <a:gdLst/>
            <a:ahLst/>
            <a:cxnLst/>
            <a:rect r="r" b="b" t="t" l="l"/>
            <a:pathLst>
              <a:path h="6556577" w="5495603">
                <a:moveTo>
                  <a:pt x="0" y="0"/>
                </a:moveTo>
                <a:lnTo>
                  <a:pt x="5495603" y="0"/>
                </a:lnTo>
                <a:lnTo>
                  <a:pt x="5495603" y="6556577"/>
                </a:lnTo>
                <a:lnTo>
                  <a:pt x="0" y="65565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7335500" y="9725025"/>
            <a:ext cx="571500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3B3B3B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-140539" y="7795177"/>
            <a:ext cx="4658799" cy="5582439"/>
          </a:xfrm>
          <a:custGeom>
            <a:avLst/>
            <a:gdLst/>
            <a:ahLst/>
            <a:cxnLst/>
            <a:rect r="r" b="b" t="t" l="l"/>
            <a:pathLst>
              <a:path h="5582439" w="4658799">
                <a:moveTo>
                  <a:pt x="0" y="0"/>
                </a:moveTo>
                <a:lnTo>
                  <a:pt x="4658799" y="0"/>
                </a:lnTo>
                <a:lnTo>
                  <a:pt x="4658799" y="5582439"/>
                </a:lnTo>
                <a:lnTo>
                  <a:pt x="0" y="5582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515088">
            <a:off x="-3574524" y="-781433"/>
            <a:ext cx="4285120" cy="5936564"/>
          </a:xfrm>
          <a:custGeom>
            <a:avLst/>
            <a:gdLst/>
            <a:ahLst/>
            <a:cxnLst/>
            <a:rect r="r" b="b" t="t" l="l"/>
            <a:pathLst>
              <a:path h="5936564" w="4285120">
                <a:moveTo>
                  <a:pt x="0" y="0"/>
                </a:moveTo>
                <a:lnTo>
                  <a:pt x="4285120" y="0"/>
                </a:lnTo>
                <a:lnTo>
                  <a:pt x="4285120" y="5936564"/>
                </a:lnTo>
                <a:lnTo>
                  <a:pt x="0" y="5936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369738">
            <a:off x="14511498" y="8424359"/>
            <a:ext cx="5495603" cy="6556577"/>
          </a:xfrm>
          <a:custGeom>
            <a:avLst/>
            <a:gdLst/>
            <a:ahLst/>
            <a:cxnLst/>
            <a:rect r="r" b="b" t="t" l="l"/>
            <a:pathLst>
              <a:path h="6556577" w="5495603">
                <a:moveTo>
                  <a:pt x="0" y="0"/>
                </a:moveTo>
                <a:lnTo>
                  <a:pt x="5495604" y="0"/>
                </a:lnTo>
                <a:lnTo>
                  <a:pt x="5495604" y="6556577"/>
                </a:lnTo>
                <a:lnTo>
                  <a:pt x="0" y="65565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10662" y="1839954"/>
            <a:ext cx="14466676" cy="8164669"/>
          </a:xfrm>
          <a:custGeom>
            <a:avLst/>
            <a:gdLst/>
            <a:ahLst/>
            <a:cxnLst/>
            <a:rect r="r" b="b" t="t" l="l"/>
            <a:pathLst>
              <a:path h="8164669" w="14466676">
                <a:moveTo>
                  <a:pt x="0" y="0"/>
                </a:moveTo>
                <a:lnTo>
                  <a:pt x="14466676" y="0"/>
                </a:lnTo>
                <a:lnTo>
                  <a:pt x="14466676" y="8164669"/>
                </a:lnTo>
                <a:lnTo>
                  <a:pt x="0" y="81646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93545" y="924013"/>
            <a:ext cx="9500910" cy="779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40"/>
              </a:lnSpc>
            </a:pPr>
            <a:r>
              <a:rPr lang="en-US" sz="6000" spc="-348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Requerimientos funcionales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35500" y="9725025"/>
            <a:ext cx="571500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3B3B3B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-140539" y="7795177"/>
            <a:ext cx="4658799" cy="5582439"/>
          </a:xfrm>
          <a:custGeom>
            <a:avLst/>
            <a:gdLst/>
            <a:ahLst/>
            <a:cxnLst/>
            <a:rect r="r" b="b" t="t" l="l"/>
            <a:pathLst>
              <a:path h="5582439" w="4658799">
                <a:moveTo>
                  <a:pt x="0" y="0"/>
                </a:moveTo>
                <a:lnTo>
                  <a:pt x="4658799" y="0"/>
                </a:lnTo>
                <a:lnTo>
                  <a:pt x="4658799" y="5582439"/>
                </a:lnTo>
                <a:lnTo>
                  <a:pt x="0" y="5582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515088">
            <a:off x="-3574524" y="-781433"/>
            <a:ext cx="4285120" cy="5936564"/>
          </a:xfrm>
          <a:custGeom>
            <a:avLst/>
            <a:gdLst/>
            <a:ahLst/>
            <a:cxnLst/>
            <a:rect r="r" b="b" t="t" l="l"/>
            <a:pathLst>
              <a:path h="5936564" w="4285120">
                <a:moveTo>
                  <a:pt x="0" y="0"/>
                </a:moveTo>
                <a:lnTo>
                  <a:pt x="4285120" y="0"/>
                </a:lnTo>
                <a:lnTo>
                  <a:pt x="4285120" y="5936564"/>
                </a:lnTo>
                <a:lnTo>
                  <a:pt x="0" y="5936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369738">
            <a:off x="14511498" y="8424359"/>
            <a:ext cx="5495603" cy="6556577"/>
          </a:xfrm>
          <a:custGeom>
            <a:avLst/>
            <a:gdLst/>
            <a:ahLst/>
            <a:cxnLst/>
            <a:rect r="r" b="b" t="t" l="l"/>
            <a:pathLst>
              <a:path h="6556577" w="5495603">
                <a:moveTo>
                  <a:pt x="0" y="0"/>
                </a:moveTo>
                <a:lnTo>
                  <a:pt x="5495604" y="0"/>
                </a:lnTo>
                <a:lnTo>
                  <a:pt x="5495604" y="6556577"/>
                </a:lnTo>
                <a:lnTo>
                  <a:pt x="0" y="65565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3126" y="2964761"/>
            <a:ext cx="16721748" cy="5260416"/>
          </a:xfrm>
          <a:custGeom>
            <a:avLst/>
            <a:gdLst/>
            <a:ahLst/>
            <a:cxnLst/>
            <a:rect r="r" b="b" t="t" l="l"/>
            <a:pathLst>
              <a:path h="5260416" w="16721748">
                <a:moveTo>
                  <a:pt x="0" y="0"/>
                </a:moveTo>
                <a:lnTo>
                  <a:pt x="16721748" y="0"/>
                </a:lnTo>
                <a:lnTo>
                  <a:pt x="16721748" y="5260416"/>
                </a:lnTo>
                <a:lnTo>
                  <a:pt x="0" y="52604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64007" y="1435640"/>
            <a:ext cx="10468083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40"/>
              </a:lnSpc>
            </a:pPr>
            <a:r>
              <a:rPr lang="en-US" sz="6000" spc="-348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Requerimientos no funcionales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35500" y="9725025"/>
            <a:ext cx="571500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3B3B3B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20267" y="8824277"/>
            <a:ext cx="4261514" cy="7081065"/>
          </a:xfrm>
          <a:custGeom>
            <a:avLst/>
            <a:gdLst/>
            <a:ahLst/>
            <a:cxnLst/>
            <a:rect r="r" b="b" t="t" l="l"/>
            <a:pathLst>
              <a:path h="7081065" w="4261514">
                <a:moveTo>
                  <a:pt x="0" y="0"/>
                </a:moveTo>
                <a:lnTo>
                  <a:pt x="4261513" y="0"/>
                </a:lnTo>
                <a:lnTo>
                  <a:pt x="4261513" y="7081066"/>
                </a:lnTo>
                <a:lnTo>
                  <a:pt x="0" y="70810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369738">
            <a:off x="14511498" y="8424359"/>
            <a:ext cx="5495603" cy="6556577"/>
          </a:xfrm>
          <a:custGeom>
            <a:avLst/>
            <a:gdLst/>
            <a:ahLst/>
            <a:cxnLst/>
            <a:rect r="r" b="b" t="t" l="l"/>
            <a:pathLst>
              <a:path h="6556577" w="5495603">
                <a:moveTo>
                  <a:pt x="0" y="0"/>
                </a:moveTo>
                <a:lnTo>
                  <a:pt x="5495604" y="0"/>
                </a:lnTo>
                <a:lnTo>
                  <a:pt x="5495604" y="6556577"/>
                </a:lnTo>
                <a:lnTo>
                  <a:pt x="0" y="65565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700000">
            <a:off x="-778329" y="7846999"/>
            <a:ext cx="4658799" cy="5582439"/>
          </a:xfrm>
          <a:custGeom>
            <a:avLst/>
            <a:gdLst/>
            <a:ahLst/>
            <a:cxnLst/>
            <a:rect r="r" b="b" t="t" l="l"/>
            <a:pathLst>
              <a:path h="5582439" w="4658799">
                <a:moveTo>
                  <a:pt x="0" y="0"/>
                </a:moveTo>
                <a:lnTo>
                  <a:pt x="4658799" y="0"/>
                </a:lnTo>
                <a:lnTo>
                  <a:pt x="4658799" y="5582439"/>
                </a:lnTo>
                <a:lnTo>
                  <a:pt x="0" y="55824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515088">
            <a:off x="4922192" y="8734366"/>
            <a:ext cx="4285120" cy="5936564"/>
          </a:xfrm>
          <a:custGeom>
            <a:avLst/>
            <a:gdLst/>
            <a:ahLst/>
            <a:cxnLst/>
            <a:rect r="r" b="b" t="t" l="l"/>
            <a:pathLst>
              <a:path h="5936564" w="4285120">
                <a:moveTo>
                  <a:pt x="0" y="0"/>
                </a:moveTo>
                <a:lnTo>
                  <a:pt x="4285120" y="0"/>
                </a:lnTo>
                <a:lnTo>
                  <a:pt x="4285120" y="5936563"/>
                </a:lnTo>
                <a:lnTo>
                  <a:pt x="0" y="59365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2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2015508"/>
            <a:ext cx="7857827" cy="2068451"/>
            <a:chOff x="0" y="0"/>
            <a:chExt cx="10477103" cy="2757934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30195"/>
              <a:ext cx="10368350" cy="2719834"/>
              <a:chOff x="0" y="0"/>
              <a:chExt cx="2048069" cy="53725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048069" cy="537251"/>
              </a:xfrm>
              <a:custGeom>
                <a:avLst/>
                <a:gdLst/>
                <a:ahLst/>
                <a:cxnLst/>
                <a:rect r="r" b="b" t="t" l="l"/>
                <a:pathLst>
                  <a:path h="537251" w="2048069">
                    <a:moveTo>
                      <a:pt x="50775" y="0"/>
                    </a:moveTo>
                    <a:lnTo>
                      <a:pt x="1997294" y="0"/>
                    </a:lnTo>
                    <a:cubicBezTo>
                      <a:pt x="2010761" y="0"/>
                      <a:pt x="2023676" y="5349"/>
                      <a:pt x="2033198" y="14872"/>
                    </a:cubicBezTo>
                    <a:cubicBezTo>
                      <a:pt x="2042720" y="24394"/>
                      <a:pt x="2048069" y="37308"/>
                      <a:pt x="2048069" y="50775"/>
                    </a:cubicBezTo>
                    <a:lnTo>
                      <a:pt x="2048069" y="486476"/>
                    </a:lnTo>
                    <a:cubicBezTo>
                      <a:pt x="2048069" y="499943"/>
                      <a:pt x="2042720" y="512858"/>
                      <a:pt x="2033198" y="522380"/>
                    </a:cubicBezTo>
                    <a:cubicBezTo>
                      <a:pt x="2023676" y="531902"/>
                      <a:pt x="2010761" y="537251"/>
                      <a:pt x="1997294" y="537251"/>
                    </a:cubicBezTo>
                    <a:lnTo>
                      <a:pt x="50775" y="537251"/>
                    </a:lnTo>
                    <a:cubicBezTo>
                      <a:pt x="37308" y="537251"/>
                      <a:pt x="24394" y="531902"/>
                      <a:pt x="14872" y="522380"/>
                    </a:cubicBezTo>
                    <a:cubicBezTo>
                      <a:pt x="5349" y="512858"/>
                      <a:pt x="0" y="499943"/>
                      <a:pt x="0" y="486476"/>
                    </a:cubicBezTo>
                    <a:lnTo>
                      <a:pt x="0" y="50775"/>
                    </a:lnTo>
                    <a:cubicBezTo>
                      <a:pt x="0" y="37308"/>
                      <a:pt x="5349" y="24394"/>
                      <a:pt x="14872" y="14872"/>
                    </a:cubicBezTo>
                    <a:cubicBezTo>
                      <a:pt x="24394" y="5349"/>
                      <a:pt x="37308" y="0"/>
                      <a:pt x="50775" y="0"/>
                    </a:cubicBezTo>
                    <a:close/>
                  </a:path>
                </a:pathLst>
              </a:custGeom>
              <a:solidFill>
                <a:srgbClr val="A8AF9A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2048069" cy="594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202635" y="0"/>
              <a:ext cx="10274468" cy="2757934"/>
              <a:chOff x="0" y="0"/>
              <a:chExt cx="2029525" cy="54477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29525" cy="544777"/>
              </a:xfrm>
              <a:custGeom>
                <a:avLst/>
                <a:gdLst/>
                <a:ahLst/>
                <a:cxnLst/>
                <a:rect r="r" b="b" t="t" l="l"/>
                <a:pathLst>
                  <a:path h="544777" w="2029525">
                    <a:moveTo>
                      <a:pt x="51239" y="0"/>
                    </a:moveTo>
                    <a:lnTo>
                      <a:pt x="1978286" y="0"/>
                    </a:lnTo>
                    <a:cubicBezTo>
                      <a:pt x="1991875" y="0"/>
                      <a:pt x="2004908" y="5398"/>
                      <a:pt x="2014517" y="15007"/>
                    </a:cubicBezTo>
                    <a:cubicBezTo>
                      <a:pt x="2024126" y="24617"/>
                      <a:pt x="2029525" y="37649"/>
                      <a:pt x="2029525" y="51239"/>
                    </a:cubicBezTo>
                    <a:lnTo>
                      <a:pt x="2029525" y="493538"/>
                    </a:lnTo>
                    <a:cubicBezTo>
                      <a:pt x="2029525" y="507128"/>
                      <a:pt x="2024126" y="520161"/>
                      <a:pt x="2014517" y="529770"/>
                    </a:cubicBezTo>
                    <a:cubicBezTo>
                      <a:pt x="2004908" y="539379"/>
                      <a:pt x="1991875" y="544777"/>
                      <a:pt x="1978286" y="544777"/>
                    </a:cubicBezTo>
                    <a:lnTo>
                      <a:pt x="51239" y="544777"/>
                    </a:lnTo>
                    <a:cubicBezTo>
                      <a:pt x="37649" y="544777"/>
                      <a:pt x="24617" y="539379"/>
                      <a:pt x="15007" y="529770"/>
                    </a:cubicBezTo>
                    <a:cubicBezTo>
                      <a:pt x="5398" y="520161"/>
                      <a:pt x="0" y="507128"/>
                      <a:pt x="0" y="493538"/>
                    </a:cubicBezTo>
                    <a:lnTo>
                      <a:pt x="0" y="51239"/>
                    </a:lnTo>
                    <a:cubicBezTo>
                      <a:pt x="0" y="37649"/>
                      <a:pt x="5398" y="24617"/>
                      <a:pt x="15007" y="15007"/>
                    </a:cubicBezTo>
                    <a:cubicBezTo>
                      <a:pt x="24617" y="5398"/>
                      <a:pt x="37649" y="0"/>
                      <a:pt x="5123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2029525" cy="6019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1451481" y="2579930"/>
            <a:ext cx="844155" cy="84415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A8AF9A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401473" y="2015508"/>
            <a:ext cx="7857827" cy="2068451"/>
            <a:chOff x="0" y="0"/>
            <a:chExt cx="10477103" cy="2757934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30195"/>
              <a:ext cx="10368350" cy="2719834"/>
              <a:chOff x="0" y="0"/>
              <a:chExt cx="2048069" cy="537251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048069" cy="537251"/>
              </a:xfrm>
              <a:custGeom>
                <a:avLst/>
                <a:gdLst/>
                <a:ahLst/>
                <a:cxnLst/>
                <a:rect r="r" b="b" t="t" l="l"/>
                <a:pathLst>
                  <a:path h="537251" w="2048069">
                    <a:moveTo>
                      <a:pt x="50775" y="0"/>
                    </a:moveTo>
                    <a:lnTo>
                      <a:pt x="1997294" y="0"/>
                    </a:lnTo>
                    <a:cubicBezTo>
                      <a:pt x="2010761" y="0"/>
                      <a:pt x="2023676" y="5349"/>
                      <a:pt x="2033198" y="14872"/>
                    </a:cubicBezTo>
                    <a:cubicBezTo>
                      <a:pt x="2042720" y="24394"/>
                      <a:pt x="2048069" y="37308"/>
                      <a:pt x="2048069" y="50775"/>
                    </a:cubicBezTo>
                    <a:lnTo>
                      <a:pt x="2048069" y="486476"/>
                    </a:lnTo>
                    <a:cubicBezTo>
                      <a:pt x="2048069" y="499943"/>
                      <a:pt x="2042720" y="512858"/>
                      <a:pt x="2033198" y="522380"/>
                    </a:cubicBezTo>
                    <a:cubicBezTo>
                      <a:pt x="2023676" y="531902"/>
                      <a:pt x="2010761" y="537251"/>
                      <a:pt x="1997294" y="537251"/>
                    </a:cubicBezTo>
                    <a:lnTo>
                      <a:pt x="50775" y="537251"/>
                    </a:lnTo>
                    <a:cubicBezTo>
                      <a:pt x="37308" y="537251"/>
                      <a:pt x="24394" y="531902"/>
                      <a:pt x="14872" y="522380"/>
                    </a:cubicBezTo>
                    <a:cubicBezTo>
                      <a:pt x="5349" y="512858"/>
                      <a:pt x="0" y="499943"/>
                      <a:pt x="0" y="486476"/>
                    </a:cubicBezTo>
                    <a:lnTo>
                      <a:pt x="0" y="50775"/>
                    </a:lnTo>
                    <a:cubicBezTo>
                      <a:pt x="0" y="37308"/>
                      <a:pt x="5349" y="24394"/>
                      <a:pt x="14872" y="14872"/>
                    </a:cubicBezTo>
                    <a:cubicBezTo>
                      <a:pt x="24394" y="5349"/>
                      <a:pt x="37308" y="0"/>
                      <a:pt x="50775" y="0"/>
                    </a:cubicBezTo>
                    <a:close/>
                  </a:path>
                </a:pathLst>
              </a:custGeom>
              <a:solidFill>
                <a:srgbClr val="A8AF9A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57150"/>
                <a:ext cx="2048069" cy="594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202635" y="0"/>
              <a:ext cx="10274468" cy="2757934"/>
              <a:chOff x="0" y="0"/>
              <a:chExt cx="2029525" cy="54477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029525" cy="544777"/>
              </a:xfrm>
              <a:custGeom>
                <a:avLst/>
                <a:gdLst/>
                <a:ahLst/>
                <a:cxnLst/>
                <a:rect r="r" b="b" t="t" l="l"/>
                <a:pathLst>
                  <a:path h="544777" w="2029525">
                    <a:moveTo>
                      <a:pt x="51239" y="0"/>
                    </a:moveTo>
                    <a:lnTo>
                      <a:pt x="1978286" y="0"/>
                    </a:lnTo>
                    <a:cubicBezTo>
                      <a:pt x="1991875" y="0"/>
                      <a:pt x="2004908" y="5398"/>
                      <a:pt x="2014517" y="15007"/>
                    </a:cubicBezTo>
                    <a:cubicBezTo>
                      <a:pt x="2024126" y="24617"/>
                      <a:pt x="2029525" y="37649"/>
                      <a:pt x="2029525" y="51239"/>
                    </a:cubicBezTo>
                    <a:lnTo>
                      <a:pt x="2029525" y="493538"/>
                    </a:lnTo>
                    <a:cubicBezTo>
                      <a:pt x="2029525" y="507128"/>
                      <a:pt x="2024126" y="520161"/>
                      <a:pt x="2014517" y="529770"/>
                    </a:cubicBezTo>
                    <a:cubicBezTo>
                      <a:pt x="2004908" y="539379"/>
                      <a:pt x="1991875" y="544777"/>
                      <a:pt x="1978286" y="544777"/>
                    </a:cubicBezTo>
                    <a:lnTo>
                      <a:pt x="51239" y="544777"/>
                    </a:lnTo>
                    <a:cubicBezTo>
                      <a:pt x="37649" y="544777"/>
                      <a:pt x="24617" y="539379"/>
                      <a:pt x="15007" y="529770"/>
                    </a:cubicBezTo>
                    <a:cubicBezTo>
                      <a:pt x="5398" y="520161"/>
                      <a:pt x="0" y="507128"/>
                      <a:pt x="0" y="493538"/>
                    </a:cubicBezTo>
                    <a:lnTo>
                      <a:pt x="0" y="51239"/>
                    </a:lnTo>
                    <a:cubicBezTo>
                      <a:pt x="0" y="37649"/>
                      <a:pt x="5398" y="24617"/>
                      <a:pt x="15007" y="15007"/>
                    </a:cubicBezTo>
                    <a:cubicBezTo>
                      <a:pt x="24617" y="5398"/>
                      <a:pt x="37649" y="0"/>
                      <a:pt x="5123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57150"/>
                <a:ext cx="2029525" cy="6019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9824254" y="2579930"/>
            <a:ext cx="844155" cy="84415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A8AF9A"/>
            </a:solidFill>
            <a:ln cap="rnd">
              <a:noFill/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616701" y="2748701"/>
            <a:ext cx="513715" cy="459775"/>
          </a:xfrm>
          <a:custGeom>
            <a:avLst/>
            <a:gdLst/>
            <a:ahLst/>
            <a:cxnLst/>
            <a:rect r="r" b="b" t="t" l="l"/>
            <a:pathLst>
              <a:path h="459775" w="513715">
                <a:moveTo>
                  <a:pt x="0" y="0"/>
                </a:moveTo>
                <a:lnTo>
                  <a:pt x="513715" y="0"/>
                </a:lnTo>
                <a:lnTo>
                  <a:pt x="513715" y="459775"/>
                </a:lnTo>
                <a:lnTo>
                  <a:pt x="0" y="459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028700" y="4396493"/>
            <a:ext cx="7857827" cy="2068451"/>
            <a:chOff x="0" y="0"/>
            <a:chExt cx="10477103" cy="2757934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30195"/>
              <a:ext cx="10368350" cy="2719834"/>
              <a:chOff x="0" y="0"/>
              <a:chExt cx="2048069" cy="53725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048069" cy="537251"/>
              </a:xfrm>
              <a:custGeom>
                <a:avLst/>
                <a:gdLst/>
                <a:ahLst/>
                <a:cxnLst/>
                <a:rect r="r" b="b" t="t" l="l"/>
                <a:pathLst>
                  <a:path h="537251" w="2048069">
                    <a:moveTo>
                      <a:pt x="50775" y="0"/>
                    </a:moveTo>
                    <a:lnTo>
                      <a:pt x="1997294" y="0"/>
                    </a:lnTo>
                    <a:cubicBezTo>
                      <a:pt x="2010761" y="0"/>
                      <a:pt x="2023676" y="5349"/>
                      <a:pt x="2033198" y="14872"/>
                    </a:cubicBezTo>
                    <a:cubicBezTo>
                      <a:pt x="2042720" y="24394"/>
                      <a:pt x="2048069" y="37308"/>
                      <a:pt x="2048069" y="50775"/>
                    </a:cubicBezTo>
                    <a:lnTo>
                      <a:pt x="2048069" y="486476"/>
                    </a:lnTo>
                    <a:cubicBezTo>
                      <a:pt x="2048069" y="499943"/>
                      <a:pt x="2042720" y="512858"/>
                      <a:pt x="2033198" y="522380"/>
                    </a:cubicBezTo>
                    <a:cubicBezTo>
                      <a:pt x="2023676" y="531902"/>
                      <a:pt x="2010761" y="537251"/>
                      <a:pt x="1997294" y="537251"/>
                    </a:cubicBezTo>
                    <a:lnTo>
                      <a:pt x="50775" y="537251"/>
                    </a:lnTo>
                    <a:cubicBezTo>
                      <a:pt x="37308" y="537251"/>
                      <a:pt x="24394" y="531902"/>
                      <a:pt x="14872" y="522380"/>
                    </a:cubicBezTo>
                    <a:cubicBezTo>
                      <a:pt x="5349" y="512858"/>
                      <a:pt x="0" y="499943"/>
                      <a:pt x="0" y="486476"/>
                    </a:cubicBezTo>
                    <a:lnTo>
                      <a:pt x="0" y="50775"/>
                    </a:lnTo>
                    <a:cubicBezTo>
                      <a:pt x="0" y="37308"/>
                      <a:pt x="5349" y="24394"/>
                      <a:pt x="14872" y="14872"/>
                    </a:cubicBezTo>
                    <a:cubicBezTo>
                      <a:pt x="24394" y="5349"/>
                      <a:pt x="37308" y="0"/>
                      <a:pt x="50775" y="0"/>
                    </a:cubicBezTo>
                    <a:close/>
                  </a:path>
                </a:pathLst>
              </a:custGeom>
              <a:solidFill>
                <a:srgbClr val="A8AF9A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57150"/>
                <a:ext cx="2048069" cy="594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202635" y="0"/>
              <a:ext cx="10274468" cy="2757934"/>
              <a:chOff x="0" y="0"/>
              <a:chExt cx="2029525" cy="54477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029525" cy="544777"/>
              </a:xfrm>
              <a:custGeom>
                <a:avLst/>
                <a:gdLst/>
                <a:ahLst/>
                <a:cxnLst/>
                <a:rect r="r" b="b" t="t" l="l"/>
                <a:pathLst>
                  <a:path h="544777" w="2029525">
                    <a:moveTo>
                      <a:pt x="51239" y="0"/>
                    </a:moveTo>
                    <a:lnTo>
                      <a:pt x="1978286" y="0"/>
                    </a:lnTo>
                    <a:cubicBezTo>
                      <a:pt x="1991875" y="0"/>
                      <a:pt x="2004908" y="5398"/>
                      <a:pt x="2014517" y="15007"/>
                    </a:cubicBezTo>
                    <a:cubicBezTo>
                      <a:pt x="2024126" y="24617"/>
                      <a:pt x="2029525" y="37649"/>
                      <a:pt x="2029525" y="51239"/>
                    </a:cubicBezTo>
                    <a:lnTo>
                      <a:pt x="2029525" y="493538"/>
                    </a:lnTo>
                    <a:cubicBezTo>
                      <a:pt x="2029525" y="507128"/>
                      <a:pt x="2024126" y="520161"/>
                      <a:pt x="2014517" y="529770"/>
                    </a:cubicBezTo>
                    <a:cubicBezTo>
                      <a:pt x="2004908" y="539379"/>
                      <a:pt x="1991875" y="544777"/>
                      <a:pt x="1978286" y="544777"/>
                    </a:cubicBezTo>
                    <a:lnTo>
                      <a:pt x="51239" y="544777"/>
                    </a:lnTo>
                    <a:cubicBezTo>
                      <a:pt x="37649" y="544777"/>
                      <a:pt x="24617" y="539379"/>
                      <a:pt x="15007" y="529770"/>
                    </a:cubicBezTo>
                    <a:cubicBezTo>
                      <a:pt x="5398" y="520161"/>
                      <a:pt x="0" y="507128"/>
                      <a:pt x="0" y="493538"/>
                    </a:cubicBezTo>
                    <a:lnTo>
                      <a:pt x="0" y="51239"/>
                    </a:lnTo>
                    <a:cubicBezTo>
                      <a:pt x="0" y="37649"/>
                      <a:pt x="5398" y="24617"/>
                      <a:pt x="15007" y="15007"/>
                    </a:cubicBezTo>
                    <a:cubicBezTo>
                      <a:pt x="24617" y="5398"/>
                      <a:pt x="37649" y="0"/>
                      <a:pt x="5123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57150"/>
                <a:ext cx="2029525" cy="6019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34" id="34"/>
          <p:cNvGrpSpPr/>
          <p:nvPr/>
        </p:nvGrpSpPr>
        <p:grpSpPr>
          <a:xfrm rot="0">
            <a:off x="1451481" y="4960915"/>
            <a:ext cx="844155" cy="84415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A8AF9A"/>
            </a:solidFill>
            <a:ln cap="rnd">
              <a:noFill/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401473" y="4396493"/>
            <a:ext cx="7857827" cy="2068451"/>
            <a:chOff x="0" y="0"/>
            <a:chExt cx="10477103" cy="2757934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30195"/>
              <a:ext cx="10368350" cy="2719834"/>
              <a:chOff x="0" y="0"/>
              <a:chExt cx="2048069" cy="537251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048069" cy="537251"/>
              </a:xfrm>
              <a:custGeom>
                <a:avLst/>
                <a:gdLst/>
                <a:ahLst/>
                <a:cxnLst/>
                <a:rect r="r" b="b" t="t" l="l"/>
                <a:pathLst>
                  <a:path h="537251" w="2048069">
                    <a:moveTo>
                      <a:pt x="50775" y="0"/>
                    </a:moveTo>
                    <a:lnTo>
                      <a:pt x="1997294" y="0"/>
                    </a:lnTo>
                    <a:cubicBezTo>
                      <a:pt x="2010761" y="0"/>
                      <a:pt x="2023676" y="5349"/>
                      <a:pt x="2033198" y="14872"/>
                    </a:cubicBezTo>
                    <a:cubicBezTo>
                      <a:pt x="2042720" y="24394"/>
                      <a:pt x="2048069" y="37308"/>
                      <a:pt x="2048069" y="50775"/>
                    </a:cubicBezTo>
                    <a:lnTo>
                      <a:pt x="2048069" y="486476"/>
                    </a:lnTo>
                    <a:cubicBezTo>
                      <a:pt x="2048069" y="499943"/>
                      <a:pt x="2042720" y="512858"/>
                      <a:pt x="2033198" y="522380"/>
                    </a:cubicBezTo>
                    <a:cubicBezTo>
                      <a:pt x="2023676" y="531902"/>
                      <a:pt x="2010761" y="537251"/>
                      <a:pt x="1997294" y="537251"/>
                    </a:cubicBezTo>
                    <a:lnTo>
                      <a:pt x="50775" y="537251"/>
                    </a:lnTo>
                    <a:cubicBezTo>
                      <a:pt x="37308" y="537251"/>
                      <a:pt x="24394" y="531902"/>
                      <a:pt x="14872" y="522380"/>
                    </a:cubicBezTo>
                    <a:cubicBezTo>
                      <a:pt x="5349" y="512858"/>
                      <a:pt x="0" y="499943"/>
                      <a:pt x="0" y="486476"/>
                    </a:cubicBezTo>
                    <a:lnTo>
                      <a:pt x="0" y="50775"/>
                    </a:lnTo>
                    <a:cubicBezTo>
                      <a:pt x="0" y="37308"/>
                      <a:pt x="5349" y="24394"/>
                      <a:pt x="14872" y="14872"/>
                    </a:cubicBezTo>
                    <a:cubicBezTo>
                      <a:pt x="24394" y="5349"/>
                      <a:pt x="37308" y="0"/>
                      <a:pt x="50775" y="0"/>
                    </a:cubicBezTo>
                    <a:close/>
                  </a:path>
                </a:pathLst>
              </a:custGeom>
              <a:solidFill>
                <a:srgbClr val="A8AF9A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57150"/>
                <a:ext cx="2048069" cy="594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202635" y="0"/>
              <a:ext cx="10274468" cy="2757934"/>
              <a:chOff x="0" y="0"/>
              <a:chExt cx="2029525" cy="544777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2029525" cy="544777"/>
              </a:xfrm>
              <a:custGeom>
                <a:avLst/>
                <a:gdLst/>
                <a:ahLst/>
                <a:cxnLst/>
                <a:rect r="r" b="b" t="t" l="l"/>
                <a:pathLst>
                  <a:path h="544777" w="2029525">
                    <a:moveTo>
                      <a:pt x="51239" y="0"/>
                    </a:moveTo>
                    <a:lnTo>
                      <a:pt x="1978286" y="0"/>
                    </a:lnTo>
                    <a:cubicBezTo>
                      <a:pt x="1991875" y="0"/>
                      <a:pt x="2004908" y="5398"/>
                      <a:pt x="2014517" y="15007"/>
                    </a:cubicBezTo>
                    <a:cubicBezTo>
                      <a:pt x="2024126" y="24617"/>
                      <a:pt x="2029525" y="37649"/>
                      <a:pt x="2029525" y="51239"/>
                    </a:cubicBezTo>
                    <a:lnTo>
                      <a:pt x="2029525" y="493538"/>
                    </a:lnTo>
                    <a:cubicBezTo>
                      <a:pt x="2029525" y="507128"/>
                      <a:pt x="2024126" y="520161"/>
                      <a:pt x="2014517" y="529770"/>
                    </a:cubicBezTo>
                    <a:cubicBezTo>
                      <a:pt x="2004908" y="539379"/>
                      <a:pt x="1991875" y="544777"/>
                      <a:pt x="1978286" y="544777"/>
                    </a:cubicBezTo>
                    <a:lnTo>
                      <a:pt x="51239" y="544777"/>
                    </a:lnTo>
                    <a:cubicBezTo>
                      <a:pt x="37649" y="544777"/>
                      <a:pt x="24617" y="539379"/>
                      <a:pt x="15007" y="529770"/>
                    </a:cubicBezTo>
                    <a:cubicBezTo>
                      <a:pt x="5398" y="520161"/>
                      <a:pt x="0" y="507128"/>
                      <a:pt x="0" y="493538"/>
                    </a:cubicBezTo>
                    <a:lnTo>
                      <a:pt x="0" y="51239"/>
                    </a:lnTo>
                    <a:cubicBezTo>
                      <a:pt x="0" y="37649"/>
                      <a:pt x="5398" y="24617"/>
                      <a:pt x="15007" y="15007"/>
                    </a:cubicBezTo>
                    <a:cubicBezTo>
                      <a:pt x="24617" y="5398"/>
                      <a:pt x="37649" y="0"/>
                      <a:pt x="5123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57150"/>
                <a:ext cx="2029525" cy="6019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0">
            <a:off x="9824254" y="4960915"/>
            <a:ext cx="844155" cy="844155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A8AF9A"/>
            </a:solidFill>
            <a:ln cap="rnd">
              <a:noFill/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28700" y="6779269"/>
            <a:ext cx="7857827" cy="2068451"/>
            <a:chOff x="0" y="0"/>
            <a:chExt cx="10477103" cy="2757934"/>
          </a:xfrm>
        </p:grpSpPr>
        <p:grpSp>
          <p:nvGrpSpPr>
            <p:cNvPr name="Group 48" id="48"/>
            <p:cNvGrpSpPr/>
            <p:nvPr/>
          </p:nvGrpSpPr>
          <p:grpSpPr>
            <a:xfrm rot="0">
              <a:off x="0" y="30195"/>
              <a:ext cx="10368350" cy="2719834"/>
              <a:chOff x="0" y="0"/>
              <a:chExt cx="2048069" cy="537251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048069" cy="537251"/>
              </a:xfrm>
              <a:custGeom>
                <a:avLst/>
                <a:gdLst/>
                <a:ahLst/>
                <a:cxnLst/>
                <a:rect r="r" b="b" t="t" l="l"/>
                <a:pathLst>
                  <a:path h="537251" w="2048069">
                    <a:moveTo>
                      <a:pt x="50775" y="0"/>
                    </a:moveTo>
                    <a:lnTo>
                      <a:pt x="1997294" y="0"/>
                    </a:lnTo>
                    <a:cubicBezTo>
                      <a:pt x="2010761" y="0"/>
                      <a:pt x="2023676" y="5349"/>
                      <a:pt x="2033198" y="14872"/>
                    </a:cubicBezTo>
                    <a:cubicBezTo>
                      <a:pt x="2042720" y="24394"/>
                      <a:pt x="2048069" y="37308"/>
                      <a:pt x="2048069" y="50775"/>
                    </a:cubicBezTo>
                    <a:lnTo>
                      <a:pt x="2048069" y="486476"/>
                    </a:lnTo>
                    <a:cubicBezTo>
                      <a:pt x="2048069" y="499943"/>
                      <a:pt x="2042720" y="512858"/>
                      <a:pt x="2033198" y="522380"/>
                    </a:cubicBezTo>
                    <a:cubicBezTo>
                      <a:pt x="2023676" y="531902"/>
                      <a:pt x="2010761" y="537251"/>
                      <a:pt x="1997294" y="537251"/>
                    </a:cubicBezTo>
                    <a:lnTo>
                      <a:pt x="50775" y="537251"/>
                    </a:lnTo>
                    <a:cubicBezTo>
                      <a:pt x="37308" y="537251"/>
                      <a:pt x="24394" y="531902"/>
                      <a:pt x="14872" y="522380"/>
                    </a:cubicBezTo>
                    <a:cubicBezTo>
                      <a:pt x="5349" y="512858"/>
                      <a:pt x="0" y="499943"/>
                      <a:pt x="0" y="486476"/>
                    </a:cubicBezTo>
                    <a:lnTo>
                      <a:pt x="0" y="50775"/>
                    </a:lnTo>
                    <a:cubicBezTo>
                      <a:pt x="0" y="37308"/>
                      <a:pt x="5349" y="24394"/>
                      <a:pt x="14872" y="14872"/>
                    </a:cubicBezTo>
                    <a:cubicBezTo>
                      <a:pt x="24394" y="5349"/>
                      <a:pt x="37308" y="0"/>
                      <a:pt x="50775" y="0"/>
                    </a:cubicBezTo>
                    <a:close/>
                  </a:path>
                </a:pathLst>
              </a:custGeom>
              <a:solidFill>
                <a:srgbClr val="A8AF9A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57150"/>
                <a:ext cx="2048069" cy="594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202635" y="0"/>
              <a:ext cx="10274468" cy="2757934"/>
              <a:chOff x="0" y="0"/>
              <a:chExt cx="2029525" cy="544777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2029525" cy="544777"/>
              </a:xfrm>
              <a:custGeom>
                <a:avLst/>
                <a:gdLst/>
                <a:ahLst/>
                <a:cxnLst/>
                <a:rect r="r" b="b" t="t" l="l"/>
                <a:pathLst>
                  <a:path h="544777" w="2029525">
                    <a:moveTo>
                      <a:pt x="51239" y="0"/>
                    </a:moveTo>
                    <a:lnTo>
                      <a:pt x="1978286" y="0"/>
                    </a:lnTo>
                    <a:cubicBezTo>
                      <a:pt x="1991875" y="0"/>
                      <a:pt x="2004908" y="5398"/>
                      <a:pt x="2014517" y="15007"/>
                    </a:cubicBezTo>
                    <a:cubicBezTo>
                      <a:pt x="2024126" y="24617"/>
                      <a:pt x="2029525" y="37649"/>
                      <a:pt x="2029525" y="51239"/>
                    </a:cubicBezTo>
                    <a:lnTo>
                      <a:pt x="2029525" y="493538"/>
                    </a:lnTo>
                    <a:cubicBezTo>
                      <a:pt x="2029525" y="507128"/>
                      <a:pt x="2024126" y="520161"/>
                      <a:pt x="2014517" y="529770"/>
                    </a:cubicBezTo>
                    <a:cubicBezTo>
                      <a:pt x="2004908" y="539379"/>
                      <a:pt x="1991875" y="544777"/>
                      <a:pt x="1978286" y="544777"/>
                    </a:cubicBezTo>
                    <a:lnTo>
                      <a:pt x="51239" y="544777"/>
                    </a:lnTo>
                    <a:cubicBezTo>
                      <a:pt x="37649" y="544777"/>
                      <a:pt x="24617" y="539379"/>
                      <a:pt x="15007" y="529770"/>
                    </a:cubicBezTo>
                    <a:cubicBezTo>
                      <a:pt x="5398" y="520161"/>
                      <a:pt x="0" y="507128"/>
                      <a:pt x="0" y="493538"/>
                    </a:cubicBezTo>
                    <a:lnTo>
                      <a:pt x="0" y="51239"/>
                    </a:lnTo>
                    <a:cubicBezTo>
                      <a:pt x="0" y="37649"/>
                      <a:pt x="5398" y="24617"/>
                      <a:pt x="15007" y="15007"/>
                    </a:cubicBezTo>
                    <a:cubicBezTo>
                      <a:pt x="24617" y="5398"/>
                      <a:pt x="37649" y="0"/>
                      <a:pt x="5123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57150"/>
                <a:ext cx="2029525" cy="6019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54" id="54"/>
          <p:cNvGrpSpPr/>
          <p:nvPr/>
        </p:nvGrpSpPr>
        <p:grpSpPr>
          <a:xfrm rot="0">
            <a:off x="1451481" y="7343691"/>
            <a:ext cx="844155" cy="844155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A8AF9A"/>
            </a:solidFill>
            <a:ln cap="rnd">
              <a:noFill/>
              <a:prstDash val="solid"/>
              <a:round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401473" y="6779269"/>
            <a:ext cx="7857827" cy="2068451"/>
            <a:chOff x="0" y="0"/>
            <a:chExt cx="10477103" cy="2757934"/>
          </a:xfrm>
        </p:grpSpPr>
        <p:grpSp>
          <p:nvGrpSpPr>
            <p:cNvPr name="Group 58" id="58"/>
            <p:cNvGrpSpPr/>
            <p:nvPr/>
          </p:nvGrpSpPr>
          <p:grpSpPr>
            <a:xfrm rot="0">
              <a:off x="0" y="30195"/>
              <a:ext cx="10368350" cy="2719834"/>
              <a:chOff x="0" y="0"/>
              <a:chExt cx="2048069" cy="537251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2048069" cy="537251"/>
              </a:xfrm>
              <a:custGeom>
                <a:avLst/>
                <a:gdLst/>
                <a:ahLst/>
                <a:cxnLst/>
                <a:rect r="r" b="b" t="t" l="l"/>
                <a:pathLst>
                  <a:path h="537251" w="2048069">
                    <a:moveTo>
                      <a:pt x="50775" y="0"/>
                    </a:moveTo>
                    <a:lnTo>
                      <a:pt x="1997294" y="0"/>
                    </a:lnTo>
                    <a:cubicBezTo>
                      <a:pt x="2010761" y="0"/>
                      <a:pt x="2023676" y="5349"/>
                      <a:pt x="2033198" y="14872"/>
                    </a:cubicBezTo>
                    <a:cubicBezTo>
                      <a:pt x="2042720" y="24394"/>
                      <a:pt x="2048069" y="37308"/>
                      <a:pt x="2048069" y="50775"/>
                    </a:cubicBezTo>
                    <a:lnTo>
                      <a:pt x="2048069" y="486476"/>
                    </a:lnTo>
                    <a:cubicBezTo>
                      <a:pt x="2048069" y="499943"/>
                      <a:pt x="2042720" y="512858"/>
                      <a:pt x="2033198" y="522380"/>
                    </a:cubicBezTo>
                    <a:cubicBezTo>
                      <a:pt x="2023676" y="531902"/>
                      <a:pt x="2010761" y="537251"/>
                      <a:pt x="1997294" y="537251"/>
                    </a:cubicBezTo>
                    <a:lnTo>
                      <a:pt x="50775" y="537251"/>
                    </a:lnTo>
                    <a:cubicBezTo>
                      <a:pt x="37308" y="537251"/>
                      <a:pt x="24394" y="531902"/>
                      <a:pt x="14872" y="522380"/>
                    </a:cubicBezTo>
                    <a:cubicBezTo>
                      <a:pt x="5349" y="512858"/>
                      <a:pt x="0" y="499943"/>
                      <a:pt x="0" y="486476"/>
                    </a:cubicBezTo>
                    <a:lnTo>
                      <a:pt x="0" y="50775"/>
                    </a:lnTo>
                    <a:cubicBezTo>
                      <a:pt x="0" y="37308"/>
                      <a:pt x="5349" y="24394"/>
                      <a:pt x="14872" y="14872"/>
                    </a:cubicBezTo>
                    <a:cubicBezTo>
                      <a:pt x="24394" y="5349"/>
                      <a:pt x="37308" y="0"/>
                      <a:pt x="50775" y="0"/>
                    </a:cubicBezTo>
                    <a:close/>
                  </a:path>
                </a:pathLst>
              </a:custGeom>
              <a:solidFill>
                <a:srgbClr val="A8AF9A"/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57150"/>
                <a:ext cx="2048069" cy="5944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0">
              <a:off x="202635" y="0"/>
              <a:ext cx="10274468" cy="2757934"/>
              <a:chOff x="0" y="0"/>
              <a:chExt cx="2029525" cy="544777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2029525" cy="544777"/>
              </a:xfrm>
              <a:custGeom>
                <a:avLst/>
                <a:gdLst/>
                <a:ahLst/>
                <a:cxnLst/>
                <a:rect r="r" b="b" t="t" l="l"/>
                <a:pathLst>
                  <a:path h="544777" w="2029525">
                    <a:moveTo>
                      <a:pt x="51239" y="0"/>
                    </a:moveTo>
                    <a:lnTo>
                      <a:pt x="1978286" y="0"/>
                    </a:lnTo>
                    <a:cubicBezTo>
                      <a:pt x="1991875" y="0"/>
                      <a:pt x="2004908" y="5398"/>
                      <a:pt x="2014517" y="15007"/>
                    </a:cubicBezTo>
                    <a:cubicBezTo>
                      <a:pt x="2024126" y="24617"/>
                      <a:pt x="2029525" y="37649"/>
                      <a:pt x="2029525" y="51239"/>
                    </a:cubicBezTo>
                    <a:lnTo>
                      <a:pt x="2029525" y="493538"/>
                    </a:lnTo>
                    <a:cubicBezTo>
                      <a:pt x="2029525" y="507128"/>
                      <a:pt x="2024126" y="520161"/>
                      <a:pt x="2014517" y="529770"/>
                    </a:cubicBezTo>
                    <a:cubicBezTo>
                      <a:pt x="2004908" y="539379"/>
                      <a:pt x="1991875" y="544777"/>
                      <a:pt x="1978286" y="544777"/>
                    </a:cubicBezTo>
                    <a:lnTo>
                      <a:pt x="51239" y="544777"/>
                    </a:lnTo>
                    <a:cubicBezTo>
                      <a:pt x="37649" y="544777"/>
                      <a:pt x="24617" y="539379"/>
                      <a:pt x="15007" y="529770"/>
                    </a:cubicBezTo>
                    <a:cubicBezTo>
                      <a:pt x="5398" y="520161"/>
                      <a:pt x="0" y="507128"/>
                      <a:pt x="0" y="493538"/>
                    </a:cubicBezTo>
                    <a:lnTo>
                      <a:pt x="0" y="51239"/>
                    </a:lnTo>
                    <a:cubicBezTo>
                      <a:pt x="0" y="37649"/>
                      <a:pt x="5398" y="24617"/>
                      <a:pt x="15007" y="15007"/>
                    </a:cubicBezTo>
                    <a:cubicBezTo>
                      <a:pt x="24617" y="5398"/>
                      <a:pt x="37649" y="0"/>
                      <a:pt x="5123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57150"/>
                <a:ext cx="2029525" cy="6019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64" id="64"/>
          <p:cNvGrpSpPr/>
          <p:nvPr/>
        </p:nvGrpSpPr>
        <p:grpSpPr>
          <a:xfrm rot="0">
            <a:off x="9824254" y="7343691"/>
            <a:ext cx="844155" cy="844155"/>
            <a:chOff x="0" y="0"/>
            <a:chExt cx="812800" cy="812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A8AF9A"/>
            </a:solidFill>
            <a:ln cap="rnd">
              <a:noFill/>
              <a:prstDash val="solid"/>
              <a:round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1627198" y="5129686"/>
            <a:ext cx="492721" cy="492721"/>
          </a:xfrm>
          <a:custGeom>
            <a:avLst/>
            <a:gdLst/>
            <a:ahLst/>
            <a:cxnLst/>
            <a:rect r="r" b="b" t="t" l="l"/>
            <a:pathLst>
              <a:path h="492721" w="492721">
                <a:moveTo>
                  <a:pt x="0" y="0"/>
                </a:moveTo>
                <a:lnTo>
                  <a:pt x="492721" y="0"/>
                </a:lnTo>
                <a:lnTo>
                  <a:pt x="492721" y="492721"/>
                </a:lnTo>
                <a:lnTo>
                  <a:pt x="0" y="49272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651663" y="7508222"/>
            <a:ext cx="468256" cy="468256"/>
          </a:xfrm>
          <a:custGeom>
            <a:avLst/>
            <a:gdLst/>
            <a:ahLst/>
            <a:cxnLst/>
            <a:rect r="r" b="b" t="t" l="l"/>
            <a:pathLst>
              <a:path h="468256" w="468256">
                <a:moveTo>
                  <a:pt x="0" y="0"/>
                </a:moveTo>
                <a:lnTo>
                  <a:pt x="468256" y="0"/>
                </a:lnTo>
                <a:lnTo>
                  <a:pt x="468256" y="468256"/>
                </a:lnTo>
                <a:lnTo>
                  <a:pt x="0" y="4682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0017374" y="5083616"/>
            <a:ext cx="540997" cy="584861"/>
          </a:xfrm>
          <a:custGeom>
            <a:avLst/>
            <a:gdLst/>
            <a:ahLst/>
            <a:cxnLst/>
            <a:rect r="r" b="b" t="t" l="l"/>
            <a:pathLst>
              <a:path h="584861" w="540997">
                <a:moveTo>
                  <a:pt x="0" y="0"/>
                </a:moveTo>
                <a:lnTo>
                  <a:pt x="540997" y="0"/>
                </a:lnTo>
                <a:lnTo>
                  <a:pt x="540997" y="584861"/>
                </a:lnTo>
                <a:lnTo>
                  <a:pt x="0" y="58486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9951749" y="7446019"/>
            <a:ext cx="589165" cy="542032"/>
          </a:xfrm>
          <a:custGeom>
            <a:avLst/>
            <a:gdLst/>
            <a:ahLst/>
            <a:cxnLst/>
            <a:rect r="r" b="b" t="t" l="l"/>
            <a:pathLst>
              <a:path h="542032" w="589165">
                <a:moveTo>
                  <a:pt x="0" y="0"/>
                </a:moveTo>
                <a:lnTo>
                  <a:pt x="589165" y="0"/>
                </a:lnTo>
                <a:lnTo>
                  <a:pt x="589165" y="542032"/>
                </a:lnTo>
                <a:lnTo>
                  <a:pt x="0" y="54203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9963409" y="2774434"/>
            <a:ext cx="594962" cy="455146"/>
          </a:xfrm>
          <a:custGeom>
            <a:avLst/>
            <a:gdLst/>
            <a:ahLst/>
            <a:cxnLst/>
            <a:rect r="r" b="b" t="t" l="l"/>
            <a:pathLst>
              <a:path h="455146" w="594962">
                <a:moveTo>
                  <a:pt x="0" y="0"/>
                </a:moveTo>
                <a:lnTo>
                  <a:pt x="594962" y="0"/>
                </a:lnTo>
                <a:lnTo>
                  <a:pt x="594962" y="455146"/>
                </a:lnTo>
                <a:lnTo>
                  <a:pt x="0" y="45514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2" id="72"/>
          <p:cNvSpPr txBox="true"/>
          <p:nvPr/>
        </p:nvSpPr>
        <p:spPr>
          <a:xfrm rot="0">
            <a:off x="1028700" y="705802"/>
            <a:ext cx="6602798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40"/>
              </a:lnSpc>
            </a:pPr>
            <a:r>
              <a:rPr lang="en-US" sz="6000" spc="-348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Épicas del proyecto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2672621" y="2440292"/>
            <a:ext cx="3221997" cy="32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6"/>
              </a:lnSpc>
            </a:pPr>
            <a:r>
              <a:rPr lang="en-US" b="true" sz="2400" spc="-139">
                <a:solidFill>
                  <a:srgbClr val="3B3B3B"/>
                </a:solidFill>
                <a:latin typeface="Lovelace Bold"/>
                <a:ea typeface="Lovelace Bold"/>
                <a:cs typeface="Lovelace Bold"/>
                <a:sym typeface="Lovelace Bold"/>
              </a:rPr>
              <a:t>EP-01 Portal cultural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672621" y="2887968"/>
            <a:ext cx="5504783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Plataforma pública de difusión institucional, historia y noticias.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1045394" y="2440292"/>
            <a:ext cx="3221997" cy="32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6"/>
              </a:lnSpc>
            </a:pPr>
            <a:r>
              <a:rPr lang="en-US" b="true" sz="2400" spc="-139">
                <a:solidFill>
                  <a:srgbClr val="3B3B3B"/>
                </a:solidFill>
                <a:latin typeface="Lovelace Bold"/>
                <a:ea typeface="Lovelace Bold"/>
                <a:cs typeface="Lovelace Bold"/>
                <a:sym typeface="Lovelace Bold"/>
              </a:rPr>
              <a:t>EP-02 Museo cultural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045394" y="2887968"/>
            <a:ext cx="5504783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Repositorio de fotografías históricas y contenido patrimonial.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2672621" y="4821277"/>
            <a:ext cx="4514558" cy="32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6"/>
              </a:lnSpc>
            </a:pPr>
            <a:r>
              <a:rPr lang="en-US" b="true" sz="2400" spc="-139">
                <a:solidFill>
                  <a:srgbClr val="3B3B3B"/>
                </a:solidFill>
                <a:latin typeface="Lovelace Bold"/>
                <a:ea typeface="Lovelace Bold"/>
                <a:cs typeface="Lovelace Bold"/>
                <a:sym typeface="Lovelace Bold"/>
              </a:rPr>
              <a:t>EP-03 Gestión de Actividades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672621" y="5268954"/>
            <a:ext cx="5504783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Módulo para administrar y presentar la cartelera de eventos.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045394" y="4821277"/>
            <a:ext cx="4514558" cy="32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6"/>
              </a:lnSpc>
            </a:pPr>
            <a:r>
              <a:rPr lang="en-US" b="true" sz="2400" spc="-139">
                <a:solidFill>
                  <a:srgbClr val="3B3B3B"/>
                </a:solidFill>
                <a:latin typeface="Lovelace Bold"/>
                <a:ea typeface="Lovelace Bold"/>
                <a:cs typeface="Lovelace Bold"/>
                <a:sym typeface="Lovelace Bold"/>
              </a:rPr>
              <a:t>EP-04 Inscripciones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1045394" y="5268954"/>
            <a:ext cx="5504783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Sistema de registro, control de cupos y listados de participantes.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2672621" y="7204052"/>
            <a:ext cx="4514558" cy="32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6"/>
              </a:lnSpc>
            </a:pPr>
            <a:r>
              <a:rPr lang="en-US" b="true" sz="2400" spc="-139">
                <a:solidFill>
                  <a:srgbClr val="3B3B3B"/>
                </a:solidFill>
                <a:latin typeface="Lovelace Bold"/>
                <a:ea typeface="Lovelace Bold"/>
                <a:cs typeface="Lovelace Bold"/>
                <a:sym typeface="Lovelace Bold"/>
              </a:rPr>
              <a:t>EP-05 Administración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2672621" y="7651729"/>
            <a:ext cx="5504783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Dashboard de control, gestión de usuarios y exportación de métricas.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1045394" y="7204052"/>
            <a:ext cx="4514558" cy="32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6"/>
              </a:lnSpc>
            </a:pPr>
            <a:r>
              <a:rPr lang="en-US" b="true" sz="2400" spc="-139">
                <a:solidFill>
                  <a:srgbClr val="3B3B3B"/>
                </a:solidFill>
                <a:latin typeface="Lovelace Bold"/>
                <a:ea typeface="Lovelace Bold"/>
                <a:cs typeface="Lovelace Bold"/>
                <a:sym typeface="Lovelace Bold"/>
              </a:rPr>
              <a:t>EP-06 Asistente Cultural IA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1045394" y="7651729"/>
            <a:ext cx="5504783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Integración de Inteligencia Artificial para consultas patrimoniales.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7335500" y="9725025"/>
            <a:ext cx="571500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3B3B3B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-140539" y="7795177"/>
            <a:ext cx="4658799" cy="5582439"/>
          </a:xfrm>
          <a:custGeom>
            <a:avLst/>
            <a:gdLst/>
            <a:ahLst/>
            <a:cxnLst/>
            <a:rect r="r" b="b" t="t" l="l"/>
            <a:pathLst>
              <a:path h="5582439" w="4658799">
                <a:moveTo>
                  <a:pt x="0" y="0"/>
                </a:moveTo>
                <a:lnTo>
                  <a:pt x="4658799" y="0"/>
                </a:lnTo>
                <a:lnTo>
                  <a:pt x="4658799" y="5582439"/>
                </a:lnTo>
                <a:lnTo>
                  <a:pt x="0" y="5582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515088">
            <a:off x="16867538" y="-838076"/>
            <a:ext cx="4285120" cy="5936564"/>
          </a:xfrm>
          <a:custGeom>
            <a:avLst/>
            <a:gdLst/>
            <a:ahLst/>
            <a:cxnLst/>
            <a:rect r="r" b="b" t="t" l="l"/>
            <a:pathLst>
              <a:path h="5936564" w="4285120">
                <a:moveTo>
                  <a:pt x="0" y="0"/>
                </a:moveTo>
                <a:lnTo>
                  <a:pt x="4285120" y="0"/>
                </a:lnTo>
                <a:lnTo>
                  <a:pt x="4285120" y="5936564"/>
                </a:lnTo>
                <a:lnTo>
                  <a:pt x="0" y="5936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34673" y="8531145"/>
            <a:ext cx="4261514" cy="7081065"/>
          </a:xfrm>
          <a:custGeom>
            <a:avLst/>
            <a:gdLst/>
            <a:ahLst/>
            <a:cxnLst/>
            <a:rect r="r" b="b" t="t" l="l"/>
            <a:pathLst>
              <a:path h="7081065" w="4261514">
                <a:moveTo>
                  <a:pt x="0" y="0"/>
                </a:moveTo>
                <a:lnTo>
                  <a:pt x="4261514" y="0"/>
                </a:lnTo>
                <a:lnTo>
                  <a:pt x="4261514" y="7081065"/>
                </a:lnTo>
                <a:lnTo>
                  <a:pt x="0" y="70810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817367"/>
            <a:ext cx="7771272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0"/>
              </a:lnSpc>
            </a:pPr>
            <a:r>
              <a:rPr lang="en-US" sz="6000" spc="-348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Historias de Usuario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66800" y="2243208"/>
            <a:ext cx="5143500" cy="2667000"/>
            <a:chOff x="0" y="0"/>
            <a:chExt cx="6858000" cy="355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58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6858000">
                  <a:moveTo>
                    <a:pt x="355600" y="0"/>
                  </a:moveTo>
                  <a:lnTo>
                    <a:pt x="6502400" y="0"/>
                  </a:lnTo>
                  <a:cubicBezTo>
                    <a:pt x="6698793" y="0"/>
                    <a:pt x="6858000" y="159208"/>
                    <a:pt x="6858000" y="355600"/>
                  </a:cubicBezTo>
                  <a:lnTo>
                    <a:pt x="6858000" y="3200400"/>
                  </a:lnTo>
                  <a:cubicBezTo>
                    <a:pt x="6858000" y="3396792"/>
                    <a:pt x="6698793" y="3556000"/>
                    <a:pt x="6502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E5E2B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858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2184770"/>
            <a:ext cx="5143500" cy="2667000"/>
            <a:chOff x="0" y="0"/>
            <a:chExt cx="6858000" cy="355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58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6858000">
                  <a:moveTo>
                    <a:pt x="355600" y="0"/>
                  </a:moveTo>
                  <a:lnTo>
                    <a:pt x="6502400" y="0"/>
                  </a:lnTo>
                  <a:cubicBezTo>
                    <a:pt x="6698793" y="0"/>
                    <a:pt x="6858000" y="159208"/>
                    <a:pt x="6858000" y="355600"/>
                  </a:cubicBezTo>
                  <a:lnTo>
                    <a:pt x="6858000" y="3200400"/>
                  </a:lnTo>
                  <a:cubicBezTo>
                    <a:pt x="6858000" y="3396792"/>
                    <a:pt x="6698793" y="3556000"/>
                    <a:pt x="6502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858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57325" y="3205233"/>
            <a:ext cx="666750" cy="666750"/>
            <a:chOff x="0" y="0"/>
            <a:chExt cx="889000" cy="889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199009" y="0"/>
                    <a:pt x="0" y="199009"/>
                    <a:pt x="0" y="444500"/>
                  </a:cubicBezTo>
                  <a:cubicBezTo>
                    <a:pt x="0" y="689991"/>
                    <a:pt x="199009" y="889000"/>
                    <a:pt x="444500" y="889000"/>
                  </a:cubicBezTo>
                  <a:cubicBezTo>
                    <a:pt x="689991" y="889000"/>
                    <a:pt x="889000" y="689991"/>
                    <a:pt x="889000" y="444500"/>
                  </a:cubicBezTo>
                  <a:cubicBezTo>
                    <a:pt x="889000" y="199009"/>
                    <a:pt x="689991" y="0"/>
                    <a:pt x="444500" y="0"/>
                  </a:cubicBezTo>
                  <a:close/>
                </a:path>
              </a:pathLst>
            </a:custGeom>
            <a:solidFill>
              <a:srgbClr val="E5E2B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314575" y="2581343"/>
            <a:ext cx="3667125" cy="2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b="true" sz="2000">
                <a:solidFill>
                  <a:srgbClr val="3B3B3B"/>
                </a:solidFill>
                <a:latin typeface="Lovelace Bold"/>
                <a:ea typeface="Lovelace Bold"/>
                <a:cs typeface="Lovelace Bold"/>
                <a:sym typeface="Lovelace Bold"/>
              </a:rPr>
              <a:t>EP-01 Portal Cultural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14575" y="2943294"/>
            <a:ext cx="3667125" cy="1453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3"/>
              </a:lnSpc>
            </a:pPr>
            <a:r>
              <a:rPr lang="en-US" sz="1659" b="true">
                <a:solidFill>
                  <a:srgbClr val="3B3B3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Como </a:t>
            </a: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usuario de la plataforma</a:t>
            </a: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,</a:t>
            </a:r>
          </a:p>
          <a:p>
            <a:pPr algn="l">
              <a:lnSpc>
                <a:spcPts val="2323"/>
              </a:lnSpc>
            </a:pPr>
            <a:r>
              <a:rPr lang="en-US" sz="1659" b="true">
                <a:solidFill>
                  <a:srgbClr val="3B3B3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Quiero</a:t>
            </a: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 acceder a contenido  patrimonial de Quilpué</a:t>
            </a: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,</a:t>
            </a:r>
          </a:p>
          <a:p>
            <a:pPr algn="l">
              <a:lnSpc>
                <a:spcPts val="2323"/>
              </a:lnSpc>
            </a:pPr>
            <a:r>
              <a:rPr lang="en-US" sz="1659" b="true">
                <a:solidFill>
                  <a:srgbClr val="3B3B3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Para</a:t>
            </a: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  conocer la identidad de la comuna.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91300" y="2243208"/>
            <a:ext cx="5143500" cy="2667000"/>
            <a:chOff x="0" y="0"/>
            <a:chExt cx="6858000" cy="355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58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6858000">
                  <a:moveTo>
                    <a:pt x="355600" y="0"/>
                  </a:moveTo>
                  <a:lnTo>
                    <a:pt x="6502400" y="0"/>
                  </a:lnTo>
                  <a:cubicBezTo>
                    <a:pt x="6698793" y="0"/>
                    <a:pt x="6858000" y="159208"/>
                    <a:pt x="6858000" y="355600"/>
                  </a:cubicBezTo>
                  <a:lnTo>
                    <a:pt x="6858000" y="3200400"/>
                  </a:lnTo>
                  <a:cubicBezTo>
                    <a:pt x="6858000" y="3396792"/>
                    <a:pt x="6698793" y="3556000"/>
                    <a:pt x="6502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E5E2B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858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53200" y="2184770"/>
            <a:ext cx="5143500" cy="2667000"/>
            <a:chOff x="0" y="0"/>
            <a:chExt cx="6858000" cy="3556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58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6858000">
                  <a:moveTo>
                    <a:pt x="355600" y="0"/>
                  </a:moveTo>
                  <a:lnTo>
                    <a:pt x="6502400" y="0"/>
                  </a:lnTo>
                  <a:cubicBezTo>
                    <a:pt x="6698793" y="0"/>
                    <a:pt x="6858000" y="159208"/>
                    <a:pt x="6858000" y="355600"/>
                  </a:cubicBezTo>
                  <a:lnTo>
                    <a:pt x="6858000" y="3200400"/>
                  </a:lnTo>
                  <a:cubicBezTo>
                    <a:pt x="6858000" y="3396792"/>
                    <a:pt x="6698793" y="3556000"/>
                    <a:pt x="6502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858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981825" y="3205233"/>
            <a:ext cx="666750" cy="666750"/>
            <a:chOff x="0" y="0"/>
            <a:chExt cx="889000" cy="889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199009" y="0"/>
                    <a:pt x="0" y="199009"/>
                    <a:pt x="0" y="444500"/>
                  </a:cubicBezTo>
                  <a:cubicBezTo>
                    <a:pt x="0" y="689991"/>
                    <a:pt x="199009" y="889000"/>
                    <a:pt x="444500" y="889000"/>
                  </a:cubicBezTo>
                  <a:cubicBezTo>
                    <a:pt x="689991" y="889000"/>
                    <a:pt x="889000" y="689991"/>
                    <a:pt x="889000" y="444500"/>
                  </a:cubicBezTo>
                  <a:cubicBezTo>
                    <a:pt x="889000" y="199009"/>
                    <a:pt x="689991" y="0"/>
                    <a:pt x="444500" y="0"/>
                  </a:cubicBezTo>
                  <a:close/>
                </a:path>
              </a:pathLst>
            </a:custGeom>
            <a:solidFill>
              <a:srgbClr val="E5E2B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839075" y="2721051"/>
            <a:ext cx="3667125" cy="2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b="true" sz="2000">
                <a:solidFill>
                  <a:srgbClr val="3B3B3B"/>
                </a:solidFill>
                <a:latin typeface="Lovelace Bold"/>
                <a:ea typeface="Lovelace Bold"/>
                <a:cs typeface="Lovelace Bold"/>
                <a:sym typeface="Lovelace Bold"/>
              </a:rPr>
              <a:t>EP-02 Museo Digital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39075" y="3086176"/>
            <a:ext cx="3667125" cy="1167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3"/>
              </a:lnSpc>
            </a:pPr>
            <a:r>
              <a:rPr lang="en-US" b="true" sz="1659">
                <a:solidFill>
                  <a:srgbClr val="3B3B3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Como </a:t>
            </a: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usuario de la plataforma,</a:t>
            </a:r>
          </a:p>
          <a:p>
            <a:pPr algn="l">
              <a:lnSpc>
                <a:spcPts val="2323"/>
              </a:lnSpc>
            </a:pPr>
            <a:r>
              <a:rPr lang="en-US" b="true" sz="1659">
                <a:solidFill>
                  <a:srgbClr val="3B3B3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Quiero </a:t>
            </a: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visualizar fotografías,</a:t>
            </a:r>
          </a:p>
          <a:p>
            <a:pPr algn="l">
              <a:lnSpc>
                <a:spcPts val="2323"/>
              </a:lnSpc>
            </a:pPr>
            <a:r>
              <a:rPr lang="en-US" b="true" sz="1659">
                <a:solidFill>
                  <a:srgbClr val="3B3B3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Para </a:t>
            </a: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apreciar el archivo del museo digital.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115800" y="2243208"/>
            <a:ext cx="5143500" cy="2667000"/>
            <a:chOff x="0" y="0"/>
            <a:chExt cx="6858000" cy="3556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58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6858000">
                  <a:moveTo>
                    <a:pt x="355600" y="0"/>
                  </a:moveTo>
                  <a:lnTo>
                    <a:pt x="6502400" y="0"/>
                  </a:lnTo>
                  <a:cubicBezTo>
                    <a:pt x="6698793" y="0"/>
                    <a:pt x="6858000" y="159208"/>
                    <a:pt x="6858000" y="355600"/>
                  </a:cubicBezTo>
                  <a:lnTo>
                    <a:pt x="6858000" y="3200400"/>
                  </a:lnTo>
                  <a:cubicBezTo>
                    <a:pt x="6858000" y="3396792"/>
                    <a:pt x="6698793" y="3556000"/>
                    <a:pt x="6502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E5E2B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858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077700" y="2184770"/>
            <a:ext cx="5143500" cy="2667000"/>
            <a:chOff x="0" y="0"/>
            <a:chExt cx="6858000" cy="3556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58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6858000">
                  <a:moveTo>
                    <a:pt x="355600" y="0"/>
                  </a:moveTo>
                  <a:lnTo>
                    <a:pt x="6502400" y="0"/>
                  </a:lnTo>
                  <a:cubicBezTo>
                    <a:pt x="6698793" y="0"/>
                    <a:pt x="6858000" y="159208"/>
                    <a:pt x="6858000" y="355600"/>
                  </a:cubicBezTo>
                  <a:lnTo>
                    <a:pt x="6858000" y="3200400"/>
                  </a:lnTo>
                  <a:cubicBezTo>
                    <a:pt x="6858000" y="3396792"/>
                    <a:pt x="6698793" y="3556000"/>
                    <a:pt x="6502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858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506325" y="3205233"/>
            <a:ext cx="666750" cy="666750"/>
            <a:chOff x="0" y="0"/>
            <a:chExt cx="889000" cy="889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199009" y="0"/>
                    <a:pt x="0" y="199009"/>
                    <a:pt x="0" y="444500"/>
                  </a:cubicBezTo>
                  <a:cubicBezTo>
                    <a:pt x="0" y="689991"/>
                    <a:pt x="199009" y="889000"/>
                    <a:pt x="444500" y="889000"/>
                  </a:cubicBezTo>
                  <a:cubicBezTo>
                    <a:pt x="689991" y="889000"/>
                    <a:pt x="889000" y="689991"/>
                    <a:pt x="889000" y="444500"/>
                  </a:cubicBezTo>
                  <a:cubicBezTo>
                    <a:pt x="889000" y="199009"/>
                    <a:pt x="689991" y="0"/>
                    <a:pt x="444500" y="0"/>
                  </a:cubicBezTo>
                  <a:close/>
                </a:path>
              </a:pathLst>
            </a:custGeom>
            <a:solidFill>
              <a:srgbClr val="E5E2B9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3363575" y="2725806"/>
            <a:ext cx="3667125" cy="28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b="true" sz="2000">
                <a:solidFill>
                  <a:srgbClr val="3B3B3B"/>
                </a:solidFill>
                <a:latin typeface="Lovelace Bold"/>
                <a:ea typeface="Lovelace Bold"/>
                <a:cs typeface="Lovelace Bold"/>
                <a:sym typeface="Lovelace Bold"/>
              </a:rPr>
              <a:t>EP-03 Gestión Actividades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363575" y="3067634"/>
            <a:ext cx="3667125" cy="1167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3"/>
              </a:lnSpc>
            </a:pPr>
            <a:r>
              <a:rPr lang="en-US" b="true" sz="1659">
                <a:solidFill>
                  <a:srgbClr val="3B3B3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Como </a:t>
            </a: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vecino de Quilpué,</a:t>
            </a:r>
          </a:p>
          <a:p>
            <a:pPr algn="l">
              <a:lnSpc>
                <a:spcPts val="2323"/>
              </a:lnSpc>
            </a:pPr>
            <a:r>
              <a:rPr lang="en-US" b="true" sz="1659">
                <a:solidFill>
                  <a:srgbClr val="3B3B3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Quiero </a:t>
            </a: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consultar actividades,</a:t>
            </a:r>
          </a:p>
          <a:p>
            <a:pPr algn="l">
              <a:lnSpc>
                <a:spcPts val="2323"/>
              </a:lnSpc>
            </a:pPr>
            <a:r>
              <a:rPr lang="en-US" b="true" sz="1659">
                <a:solidFill>
                  <a:srgbClr val="3B3B3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Para </a:t>
            </a: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conocer la cartelera cultural disponible.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66800" y="5472183"/>
            <a:ext cx="5143500" cy="2667000"/>
            <a:chOff x="0" y="0"/>
            <a:chExt cx="6858000" cy="3556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858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6858000">
                  <a:moveTo>
                    <a:pt x="355600" y="0"/>
                  </a:moveTo>
                  <a:lnTo>
                    <a:pt x="6502400" y="0"/>
                  </a:lnTo>
                  <a:cubicBezTo>
                    <a:pt x="6698793" y="0"/>
                    <a:pt x="6858000" y="159208"/>
                    <a:pt x="6858000" y="355600"/>
                  </a:cubicBezTo>
                  <a:lnTo>
                    <a:pt x="6858000" y="3200400"/>
                  </a:lnTo>
                  <a:cubicBezTo>
                    <a:pt x="6858000" y="3396792"/>
                    <a:pt x="6698793" y="3556000"/>
                    <a:pt x="6502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E5E2B9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6858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28700" y="5415033"/>
            <a:ext cx="5143500" cy="2667000"/>
            <a:chOff x="0" y="0"/>
            <a:chExt cx="6858000" cy="3556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858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6858000">
                  <a:moveTo>
                    <a:pt x="355600" y="0"/>
                  </a:moveTo>
                  <a:lnTo>
                    <a:pt x="6502400" y="0"/>
                  </a:lnTo>
                  <a:cubicBezTo>
                    <a:pt x="6698793" y="0"/>
                    <a:pt x="6858000" y="159208"/>
                    <a:pt x="6858000" y="355600"/>
                  </a:cubicBezTo>
                  <a:lnTo>
                    <a:pt x="6858000" y="3200400"/>
                  </a:lnTo>
                  <a:cubicBezTo>
                    <a:pt x="6858000" y="3396792"/>
                    <a:pt x="6698793" y="3556000"/>
                    <a:pt x="6502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6858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57325" y="6434208"/>
            <a:ext cx="666750" cy="666750"/>
            <a:chOff x="0" y="0"/>
            <a:chExt cx="889000" cy="889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199009" y="0"/>
                    <a:pt x="0" y="199009"/>
                    <a:pt x="0" y="444500"/>
                  </a:cubicBezTo>
                  <a:cubicBezTo>
                    <a:pt x="0" y="689991"/>
                    <a:pt x="199009" y="889000"/>
                    <a:pt x="444500" y="889000"/>
                  </a:cubicBezTo>
                  <a:cubicBezTo>
                    <a:pt x="689991" y="889000"/>
                    <a:pt x="889000" y="689991"/>
                    <a:pt x="889000" y="444500"/>
                  </a:cubicBezTo>
                  <a:cubicBezTo>
                    <a:pt x="889000" y="199009"/>
                    <a:pt x="689991" y="0"/>
                    <a:pt x="444500" y="0"/>
                  </a:cubicBezTo>
                  <a:close/>
                </a:path>
              </a:pathLst>
            </a:custGeom>
            <a:solidFill>
              <a:srgbClr val="E5E2B9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1535012" y="6483320"/>
            <a:ext cx="511375" cy="511375"/>
          </a:xfrm>
          <a:custGeom>
            <a:avLst/>
            <a:gdLst/>
            <a:ahLst/>
            <a:cxnLst/>
            <a:rect r="r" b="b" t="t" l="l"/>
            <a:pathLst>
              <a:path h="511375" w="511375">
                <a:moveTo>
                  <a:pt x="0" y="0"/>
                </a:moveTo>
                <a:lnTo>
                  <a:pt x="511376" y="0"/>
                </a:lnTo>
                <a:lnTo>
                  <a:pt x="511376" y="511376"/>
                </a:lnTo>
                <a:lnTo>
                  <a:pt x="0" y="5113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2314575" y="5892362"/>
            <a:ext cx="3667125" cy="28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b="true" sz="2000">
                <a:solidFill>
                  <a:srgbClr val="3B3B3B"/>
                </a:solidFill>
                <a:latin typeface="Lovelace Bold"/>
                <a:ea typeface="Lovelace Bold"/>
                <a:cs typeface="Lovelace Bold"/>
                <a:sym typeface="Lovelace Bold"/>
              </a:rPr>
              <a:t>EP-04 Inscripciones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314575" y="6252725"/>
            <a:ext cx="3667125" cy="1167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3"/>
              </a:lnSpc>
            </a:pPr>
            <a:r>
              <a:rPr lang="en-US" b="true" sz="1659">
                <a:solidFill>
                  <a:srgbClr val="3B3B3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Como </a:t>
            </a: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vecino de Quilpué,</a:t>
            </a:r>
          </a:p>
          <a:p>
            <a:pPr algn="l">
              <a:lnSpc>
                <a:spcPts val="2323"/>
              </a:lnSpc>
            </a:pPr>
            <a:r>
              <a:rPr lang="en-US" b="true" sz="1659">
                <a:solidFill>
                  <a:srgbClr val="3B3B3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Quiero </a:t>
            </a: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inscribirme en la actividad,</a:t>
            </a:r>
          </a:p>
          <a:p>
            <a:pPr algn="l">
              <a:lnSpc>
                <a:spcPts val="2323"/>
              </a:lnSpc>
            </a:pPr>
            <a:r>
              <a:rPr lang="en-US" b="true" sz="1659">
                <a:solidFill>
                  <a:srgbClr val="3B3B3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Para </a:t>
            </a: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asegurar mi participación y cupo.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6591300" y="5472183"/>
            <a:ext cx="5143500" cy="2667000"/>
            <a:chOff x="0" y="0"/>
            <a:chExt cx="6858000" cy="3556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858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6858000">
                  <a:moveTo>
                    <a:pt x="355600" y="0"/>
                  </a:moveTo>
                  <a:lnTo>
                    <a:pt x="6502400" y="0"/>
                  </a:lnTo>
                  <a:cubicBezTo>
                    <a:pt x="6698793" y="0"/>
                    <a:pt x="6858000" y="159208"/>
                    <a:pt x="6858000" y="355600"/>
                  </a:cubicBezTo>
                  <a:lnTo>
                    <a:pt x="6858000" y="3200400"/>
                  </a:lnTo>
                  <a:cubicBezTo>
                    <a:pt x="6858000" y="3396792"/>
                    <a:pt x="6698793" y="3556000"/>
                    <a:pt x="6502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E5E2B9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6858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553200" y="5415033"/>
            <a:ext cx="5143500" cy="2667000"/>
            <a:chOff x="0" y="0"/>
            <a:chExt cx="6858000" cy="3556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858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6858000">
                  <a:moveTo>
                    <a:pt x="355600" y="0"/>
                  </a:moveTo>
                  <a:lnTo>
                    <a:pt x="6502400" y="0"/>
                  </a:lnTo>
                  <a:cubicBezTo>
                    <a:pt x="6698793" y="0"/>
                    <a:pt x="6858000" y="159208"/>
                    <a:pt x="6858000" y="355600"/>
                  </a:cubicBezTo>
                  <a:lnTo>
                    <a:pt x="6858000" y="3200400"/>
                  </a:lnTo>
                  <a:cubicBezTo>
                    <a:pt x="6858000" y="3396792"/>
                    <a:pt x="6698793" y="3556000"/>
                    <a:pt x="6502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6858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981825" y="6434208"/>
            <a:ext cx="666750" cy="666750"/>
            <a:chOff x="0" y="0"/>
            <a:chExt cx="889000" cy="8890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199009" y="0"/>
                    <a:pt x="0" y="199009"/>
                    <a:pt x="0" y="444500"/>
                  </a:cubicBezTo>
                  <a:cubicBezTo>
                    <a:pt x="0" y="689991"/>
                    <a:pt x="199009" y="889000"/>
                    <a:pt x="444500" y="889000"/>
                  </a:cubicBezTo>
                  <a:cubicBezTo>
                    <a:pt x="689991" y="889000"/>
                    <a:pt x="889000" y="689991"/>
                    <a:pt x="889000" y="444500"/>
                  </a:cubicBezTo>
                  <a:cubicBezTo>
                    <a:pt x="889000" y="199009"/>
                    <a:pt x="689991" y="0"/>
                    <a:pt x="444500" y="0"/>
                  </a:cubicBezTo>
                  <a:close/>
                </a:path>
              </a:pathLst>
            </a:custGeom>
            <a:solidFill>
              <a:srgbClr val="E5E2B9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7839075" y="5747900"/>
            <a:ext cx="3667125" cy="2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b="true" sz="2000">
                <a:solidFill>
                  <a:srgbClr val="3B3B3B"/>
                </a:solidFill>
                <a:latin typeface="Lovelace Bold"/>
                <a:ea typeface="Lovelace Bold"/>
                <a:cs typeface="Lovelace Bold"/>
                <a:sym typeface="Lovelace Bold"/>
              </a:rPr>
              <a:t>EP-05 Administración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839075" y="6109850"/>
            <a:ext cx="3667125" cy="145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3"/>
              </a:lnSpc>
            </a:pPr>
            <a:r>
              <a:rPr lang="en-US" b="true" sz="1659">
                <a:solidFill>
                  <a:srgbClr val="3B3B3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Como </a:t>
            </a: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administrador de Raíz Quilpué,</a:t>
            </a:r>
          </a:p>
          <a:p>
            <a:pPr algn="l">
              <a:lnSpc>
                <a:spcPts val="2323"/>
              </a:lnSpc>
            </a:pPr>
            <a:r>
              <a:rPr lang="en-US" b="true" sz="1659">
                <a:solidFill>
                  <a:srgbClr val="3B3B3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Quiero </a:t>
            </a: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consultar el dashboard,</a:t>
            </a:r>
          </a:p>
          <a:p>
            <a:pPr algn="l">
              <a:lnSpc>
                <a:spcPts val="2323"/>
              </a:lnSpc>
            </a:pPr>
            <a:r>
              <a:rPr lang="en-US" b="true" sz="1659">
                <a:solidFill>
                  <a:srgbClr val="3B3B3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Para </a:t>
            </a: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ver un resumen de estado general.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2115800" y="5472183"/>
            <a:ext cx="5143500" cy="2667000"/>
            <a:chOff x="0" y="0"/>
            <a:chExt cx="6858000" cy="35560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858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6858000">
                  <a:moveTo>
                    <a:pt x="355600" y="0"/>
                  </a:moveTo>
                  <a:lnTo>
                    <a:pt x="6502400" y="0"/>
                  </a:lnTo>
                  <a:cubicBezTo>
                    <a:pt x="6698793" y="0"/>
                    <a:pt x="6858000" y="159208"/>
                    <a:pt x="6858000" y="355600"/>
                  </a:cubicBezTo>
                  <a:lnTo>
                    <a:pt x="6858000" y="3200400"/>
                  </a:lnTo>
                  <a:cubicBezTo>
                    <a:pt x="6858000" y="3396792"/>
                    <a:pt x="6698793" y="3556000"/>
                    <a:pt x="6502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E5E2B9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6858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077700" y="5415033"/>
            <a:ext cx="5143500" cy="2667000"/>
            <a:chOff x="0" y="0"/>
            <a:chExt cx="6858000" cy="35560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858000" cy="3556000"/>
            </a:xfrm>
            <a:custGeom>
              <a:avLst/>
              <a:gdLst/>
              <a:ahLst/>
              <a:cxnLst/>
              <a:rect r="r" b="b" t="t" l="l"/>
              <a:pathLst>
                <a:path h="3556000" w="6858000">
                  <a:moveTo>
                    <a:pt x="355600" y="0"/>
                  </a:moveTo>
                  <a:lnTo>
                    <a:pt x="6502400" y="0"/>
                  </a:lnTo>
                  <a:cubicBezTo>
                    <a:pt x="6698793" y="0"/>
                    <a:pt x="6858000" y="159208"/>
                    <a:pt x="6858000" y="355600"/>
                  </a:cubicBezTo>
                  <a:lnTo>
                    <a:pt x="6858000" y="3200400"/>
                  </a:lnTo>
                  <a:cubicBezTo>
                    <a:pt x="6858000" y="3396792"/>
                    <a:pt x="6698793" y="3556000"/>
                    <a:pt x="6502400" y="3556000"/>
                  </a:cubicBezTo>
                  <a:lnTo>
                    <a:pt x="355600" y="3556000"/>
                  </a:lnTo>
                  <a:cubicBezTo>
                    <a:pt x="159208" y="3556000"/>
                    <a:pt x="0" y="3396792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6858000" cy="359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506325" y="6434208"/>
            <a:ext cx="666750" cy="666750"/>
            <a:chOff x="0" y="0"/>
            <a:chExt cx="889000" cy="8890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444500" y="0"/>
                  </a:moveTo>
                  <a:cubicBezTo>
                    <a:pt x="199009" y="0"/>
                    <a:pt x="0" y="199009"/>
                    <a:pt x="0" y="444500"/>
                  </a:cubicBezTo>
                  <a:cubicBezTo>
                    <a:pt x="0" y="689991"/>
                    <a:pt x="199009" y="889000"/>
                    <a:pt x="444500" y="889000"/>
                  </a:cubicBezTo>
                  <a:cubicBezTo>
                    <a:pt x="689991" y="889000"/>
                    <a:pt x="889000" y="689991"/>
                    <a:pt x="889000" y="444500"/>
                  </a:cubicBezTo>
                  <a:cubicBezTo>
                    <a:pt x="889000" y="199009"/>
                    <a:pt x="689991" y="0"/>
                    <a:pt x="444500" y="0"/>
                  </a:cubicBezTo>
                  <a:close/>
                </a:path>
              </a:pathLst>
            </a:custGeom>
            <a:solidFill>
              <a:srgbClr val="E5E2B9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13363575" y="5897125"/>
            <a:ext cx="3667125" cy="2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b="true" sz="2000">
                <a:solidFill>
                  <a:srgbClr val="3B3B3B"/>
                </a:solidFill>
                <a:latin typeface="Lovelace Bold"/>
                <a:ea typeface="Lovelace Bold"/>
                <a:cs typeface="Lovelace Bold"/>
                <a:sym typeface="Lovelace Bold"/>
              </a:rPr>
              <a:t>EP-06 Asistente IA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363575" y="6252725"/>
            <a:ext cx="3667125" cy="1167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3"/>
              </a:lnSpc>
            </a:pPr>
            <a:r>
              <a:rPr lang="en-US" b="true" sz="1659">
                <a:solidFill>
                  <a:srgbClr val="3B3B3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Como </a:t>
            </a: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comunidad de Quilpué,</a:t>
            </a:r>
          </a:p>
          <a:p>
            <a:pPr algn="l">
              <a:lnSpc>
                <a:spcPts val="2323"/>
              </a:lnSpc>
            </a:pPr>
            <a:r>
              <a:rPr lang="en-US" b="true" sz="1659">
                <a:solidFill>
                  <a:srgbClr val="3B3B3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Quiero </a:t>
            </a: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realizar consultas a la IA,</a:t>
            </a:r>
          </a:p>
          <a:p>
            <a:pPr algn="l">
              <a:lnSpc>
                <a:spcPts val="2323"/>
              </a:lnSpc>
            </a:pPr>
            <a:r>
              <a:rPr lang="en-US" b="true" sz="1659">
                <a:solidFill>
                  <a:srgbClr val="3B3B3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Para </a:t>
            </a: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obtener respuestas rápidas sobre cultura.</a:t>
            </a:r>
          </a:p>
        </p:txBody>
      </p:sp>
      <p:sp>
        <p:nvSpPr>
          <p:cNvPr name="Freeform 73" id="73"/>
          <p:cNvSpPr/>
          <p:nvPr/>
        </p:nvSpPr>
        <p:spPr>
          <a:xfrm flipH="false" flipV="false" rot="0">
            <a:off x="1587099" y="3316450"/>
            <a:ext cx="432201" cy="386820"/>
          </a:xfrm>
          <a:custGeom>
            <a:avLst/>
            <a:gdLst/>
            <a:ahLst/>
            <a:cxnLst/>
            <a:rect r="r" b="b" t="t" l="l"/>
            <a:pathLst>
              <a:path h="386820" w="432201">
                <a:moveTo>
                  <a:pt x="0" y="0"/>
                </a:moveTo>
                <a:lnTo>
                  <a:pt x="432201" y="0"/>
                </a:lnTo>
                <a:lnTo>
                  <a:pt x="432201" y="386819"/>
                </a:lnTo>
                <a:lnTo>
                  <a:pt x="0" y="3868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7118901" y="6531039"/>
            <a:ext cx="434988" cy="434988"/>
          </a:xfrm>
          <a:custGeom>
            <a:avLst/>
            <a:gdLst/>
            <a:ahLst/>
            <a:cxnLst/>
            <a:rect r="r" b="b" t="t" l="l"/>
            <a:pathLst>
              <a:path h="434988" w="434988">
                <a:moveTo>
                  <a:pt x="0" y="0"/>
                </a:moveTo>
                <a:lnTo>
                  <a:pt x="434988" y="0"/>
                </a:lnTo>
                <a:lnTo>
                  <a:pt x="434988" y="434988"/>
                </a:lnTo>
                <a:lnTo>
                  <a:pt x="0" y="4349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12620625" y="6542476"/>
            <a:ext cx="447951" cy="412115"/>
          </a:xfrm>
          <a:custGeom>
            <a:avLst/>
            <a:gdLst/>
            <a:ahLst/>
            <a:cxnLst/>
            <a:rect r="r" b="b" t="t" l="l"/>
            <a:pathLst>
              <a:path h="412115" w="447951">
                <a:moveTo>
                  <a:pt x="0" y="0"/>
                </a:moveTo>
                <a:lnTo>
                  <a:pt x="447951" y="0"/>
                </a:lnTo>
                <a:lnTo>
                  <a:pt x="447951" y="412115"/>
                </a:lnTo>
                <a:lnTo>
                  <a:pt x="0" y="4121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7076511" y="3365536"/>
            <a:ext cx="477378" cy="365194"/>
          </a:xfrm>
          <a:custGeom>
            <a:avLst/>
            <a:gdLst/>
            <a:ahLst/>
            <a:cxnLst/>
            <a:rect r="r" b="b" t="t" l="l"/>
            <a:pathLst>
              <a:path h="365194" w="477378">
                <a:moveTo>
                  <a:pt x="0" y="0"/>
                </a:moveTo>
                <a:lnTo>
                  <a:pt x="477378" y="0"/>
                </a:lnTo>
                <a:lnTo>
                  <a:pt x="477378" y="365194"/>
                </a:lnTo>
                <a:lnTo>
                  <a:pt x="0" y="36519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12651613" y="3336621"/>
            <a:ext cx="376173" cy="376173"/>
          </a:xfrm>
          <a:custGeom>
            <a:avLst/>
            <a:gdLst/>
            <a:ahLst/>
            <a:cxnLst/>
            <a:rect r="r" b="b" t="t" l="l"/>
            <a:pathLst>
              <a:path h="376173" w="376173">
                <a:moveTo>
                  <a:pt x="0" y="0"/>
                </a:moveTo>
                <a:lnTo>
                  <a:pt x="376174" y="0"/>
                </a:lnTo>
                <a:lnTo>
                  <a:pt x="376174" y="376173"/>
                </a:lnTo>
                <a:lnTo>
                  <a:pt x="0" y="37617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8" id="78"/>
          <p:cNvSpPr txBox="true"/>
          <p:nvPr/>
        </p:nvSpPr>
        <p:spPr>
          <a:xfrm rot="0">
            <a:off x="17335500" y="9725025"/>
            <a:ext cx="571500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3B3B3B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5553" y="1236580"/>
            <a:ext cx="17636893" cy="8862539"/>
          </a:xfrm>
          <a:custGeom>
            <a:avLst/>
            <a:gdLst/>
            <a:ahLst/>
            <a:cxnLst/>
            <a:rect r="r" b="b" t="t" l="l"/>
            <a:pathLst>
              <a:path h="8862539" w="17636893">
                <a:moveTo>
                  <a:pt x="0" y="0"/>
                </a:moveTo>
                <a:lnTo>
                  <a:pt x="17636894" y="0"/>
                </a:lnTo>
                <a:lnTo>
                  <a:pt x="17636894" y="8862539"/>
                </a:lnTo>
                <a:lnTo>
                  <a:pt x="0" y="8862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86697" y="457434"/>
            <a:ext cx="4314605" cy="779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40"/>
              </a:lnSpc>
            </a:pPr>
            <a:r>
              <a:rPr lang="en-US" sz="6000" spc="-348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Arquitectura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335500" y="9725025"/>
            <a:ext cx="571500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3B3B3B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-140539" y="7795177"/>
            <a:ext cx="4658799" cy="5582439"/>
          </a:xfrm>
          <a:custGeom>
            <a:avLst/>
            <a:gdLst/>
            <a:ahLst/>
            <a:cxnLst/>
            <a:rect r="r" b="b" t="t" l="l"/>
            <a:pathLst>
              <a:path h="5582439" w="4658799">
                <a:moveTo>
                  <a:pt x="0" y="0"/>
                </a:moveTo>
                <a:lnTo>
                  <a:pt x="4658799" y="0"/>
                </a:lnTo>
                <a:lnTo>
                  <a:pt x="4658799" y="5582439"/>
                </a:lnTo>
                <a:lnTo>
                  <a:pt x="0" y="5582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24455" y="-1024971"/>
            <a:ext cx="4261514" cy="7081065"/>
          </a:xfrm>
          <a:custGeom>
            <a:avLst/>
            <a:gdLst/>
            <a:ahLst/>
            <a:cxnLst/>
            <a:rect r="r" b="b" t="t" l="l"/>
            <a:pathLst>
              <a:path h="7081065" w="4261514">
                <a:moveTo>
                  <a:pt x="0" y="0"/>
                </a:moveTo>
                <a:lnTo>
                  <a:pt x="4261514" y="0"/>
                </a:lnTo>
                <a:lnTo>
                  <a:pt x="4261514" y="7081066"/>
                </a:lnTo>
                <a:lnTo>
                  <a:pt x="0" y="7081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369738">
            <a:off x="14511498" y="8424359"/>
            <a:ext cx="5495603" cy="6556577"/>
          </a:xfrm>
          <a:custGeom>
            <a:avLst/>
            <a:gdLst/>
            <a:ahLst/>
            <a:cxnLst/>
            <a:rect r="r" b="b" t="t" l="l"/>
            <a:pathLst>
              <a:path h="6556577" w="5495603">
                <a:moveTo>
                  <a:pt x="0" y="0"/>
                </a:moveTo>
                <a:lnTo>
                  <a:pt x="5495604" y="0"/>
                </a:lnTo>
                <a:lnTo>
                  <a:pt x="5495604" y="6556577"/>
                </a:lnTo>
                <a:lnTo>
                  <a:pt x="0" y="65565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731791" y="3244116"/>
            <a:ext cx="951178" cy="951178"/>
            <a:chOff x="0" y="0"/>
            <a:chExt cx="1268237" cy="126823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268237" cy="1268237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EAD1DC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245498" y="326454"/>
              <a:ext cx="818595" cy="532086"/>
            </a:xfrm>
            <a:custGeom>
              <a:avLst/>
              <a:gdLst/>
              <a:ahLst/>
              <a:cxnLst/>
              <a:rect r="r" b="b" t="t" l="l"/>
              <a:pathLst>
                <a:path h="532086" w="818595">
                  <a:moveTo>
                    <a:pt x="0" y="0"/>
                  </a:moveTo>
                  <a:lnTo>
                    <a:pt x="818594" y="0"/>
                  </a:lnTo>
                  <a:lnTo>
                    <a:pt x="818594" y="532087"/>
                  </a:lnTo>
                  <a:lnTo>
                    <a:pt x="0" y="532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978494" y="3244116"/>
            <a:ext cx="951178" cy="951178"/>
            <a:chOff x="0" y="0"/>
            <a:chExt cx="1268237" cy="1268237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268237" cy="1268237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EAD1DC"/>
                </a:solidFill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4" id="14"/>
            <p:cNvSpPr/>
            <p:nvPr/>
          </p:nvSpPr>
          <p:spPr>
            <a:xfrm flipH="false" flipV="false" rot="0">
              <a:off x="287287" y="289021"/>
              <a:ext cx="693664" cy="690195"/>
            </a:xfrm>
            <a:custGeom>
              <a:avLst/>
              <a:gdLst/>
              <a:ahLst/>
              <a:cxnLst/>
              <a:rect r="r" b="b" t="t" l="l"/>
              <a:pathLst>
                <a:path h="690195" w="693664">
                  <a:moveTo>
                    <a:pt x="0" y="0"/>
                  </a:moveTo>
                  <a:lnTo>
                    <a:pt x="693663" y="0"/>
                  </a:lnTo>
                  <a:lnTo>
                    <a:pt x="693663" y="690195"/>
                  </a:lnTo>
                  <a:lnTo>
                    <a:pt x="0" y="690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225197" y="3244116"/>
            <a:ext cx="951178" cy="951178"/>
            <a:chOff x="0" y="0"/>
            <a:chExt cx="1268237" cy="126823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268237" cy="1268237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EAD1DC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338287" y="313333"/>
              <a:ext cx="591663" cy="613123"/>
            </a:xfrm>
            <a:custGeom>
              <a:avLst/>
              <a:gdLst/>
              <a:ahLst/>
              <a:cxnLst/>
              <a:rect r="r" b="b" t="t" l="l"/>
              <a:pathLst>
                <a:path h="613123" w="591663">
                  <a:moveTo>
                    <a:pt x="0" y="0"/>
                  </a:moveTo>
                  <a:lnTo>
                    <a:pt x="591663" y="0"/>
                  </a:lnTo>
                  <a:lnTo>
                    <a:pt x="591663" y="613122"/>
                  </a:lnTo>
                  <a:lnTo>
                    <a:pt x="0" y="6131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358893" y="3244116"/>
            <a:ext cx="951178" cy="951178"/>
            <a:chOff x="0" y="0"/>
            <a:chExt cx="1268237" cy="1268237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268237" cy="1268237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EAD1DC"/>
                </a:solidFill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316560" y="249982"/>
              <a:ext cx="635117" cy="705685"/>
            </a:xfrm>
            <a:custGeom>
              <a:avLst/>
              <a:gdLst/>
              <a:ahLst/>
              <a:cxnLst/>
              <a:rect r="r" b="b" t="t" l="l"/>
              <a:pathLst>
                <a:path h="705685" w="635117">
                  <a:moveTo>
                    <a:pt x="0" y="0"/>
                  </a:moveTo>
                  <a:lnTo>
                    <a:pt x="635117" y="0"/>
                  </a:lnTo>
                  <a:lnTo>
                    <a:pt x="635117" y="705685"/>
                  </a:lnTo>
                  <a:lnTo>
                    <a:pt x="0" y="705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111625" y="3244116"/>
            <a:ext cx="951178" cy="951178"/>
            <a:chOff x="0" y="0"/>
            <a:chExt cx="1268237" cy="1268237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268237" cy="1268237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EAD1DC"/>
                </a:solidFill>
                <a:prstDash val="solid"/>
                <a:round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251167" y="234700"/>
              <a:ext cx="765903" cy="765903"/>
            </a:xfrm>
            <a:custGeom>
              <a:avLst/>
              <a:gdLst/>
              <a:ahLst/>
              <a:cxnLst/>
              <a:rect r="r" b="b" t="t" l="l"/>
              <a:pathLst>
                <a:path h="765903" w="765903">
                  <a:moveTo>
                    <a:pt x="0" y="0"/>
                  </a:moveTo>
                  <a:lnTo>
                    <a:pt x="765903" y="0"/>
                  </a:lnTo>
                  <a:lnTo>
                    <a:pt x="765903" y="765903"/>
                  </a:lnTo>
                  <a:lnTo>
                    <a:pt x="0" y="765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5806331" y="1162050"/>
            <a:ext cx="6675339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40"/>
              </a:lnSpc>
            </a:pPr>
            <a:r>
              <a:rPr lang="en-US" sz="6000" spc="-348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Metodología Scrum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24549" y="4576294"/>
            <a:ext cx="2197323" cy="28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0"/>
              </a:lnSpc>
            </a:pPr>
            <a:r>
              <a:rPr lang="en-US" sz="2000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Product Backlog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735820" y="4576294"/>
            <a:ext cx="2197323" cy="28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0"/>
              </a:lnSpc>
            </a:pPr>
            <a:r>
              <a:rPr lang="en-US" sz="2000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Sprint Planning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253223" y="4576294"/>
            <a:ext cx="2197323" cy="28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0"/>
              </a:lnSpc>
            </a:pPr>
            <a:r>
              <a:rPr lang="en-US" sz="2000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Daily Scrum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355421" y="4576294"/>
            <a:ext cx="2197323" cy="28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0"/>
              </a:lnSpc>
            </a:pPr>
            <a:r>
              <a:rPr lang="en-US" sz="2000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Sprint Review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453998" y="4576294"/>
            <a:ext cx="2628511" cy="28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0"/>
              </a:lnSpc>
            </a:pPr>
            <a:r>
              <a:rPr lang="en-US" sz="2000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Sprint Retrospective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70322" y="5295598"/>
            <a:ext cx="2567144" cy="145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23"/>
              </a:lnSpc>
            </a:pP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Definición y priorización de las</a:t>
            </a:r>
            <a:r>
              <a:rPr lang="en-US" b="true" sz="1659">
                <a:solidFill>
                  <a:srgbClr val="3B3B3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épicas, historias</a:t>
            </a: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b="true" sz="1659">
                <a:solidFill>
                  <a:srgbClr val="3B3B3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de usuario y requerimientos</a:t>
            </a: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 del proyecto.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734659" y="5295598"/>
            <a:ext cx="2567144" cy="1167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23"/>
              </a:lnSpc>
            </a:pP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b="true" sz="1659">
                <a:solidFill>
                  <a:srgbClr val="3B3B3B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elección de tareas </a:t>
            </a: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y estimación de esfuerzo para definir el objetivo de la iteración.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098996" y="5295598"/>
            <a:ext cx="2567144" cy="1167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23"/>
              </a:lnSpc>
            </a:pP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Sin</a:t>
            </a: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cronización diaria del equipo para revisar progreso, planificar el día y detectar bloqueos.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201194" y="5295598"/>
            <a:ext cx="2567144" cy="145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23"/>
              </a:lnSpc>
            </a:pP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D</a:t>
            </a: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emostración del incremento de producto funcional a los stakeholders al final del sprint.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515365" y="5295598"/>
            <a:ext cx="2567144" cy="1167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23"/>
              </a:lnSpc>
            </a:pP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Aná</a:t>
            </a:r>
            <a:r>
              <a:rPr lang="en-US" sz="16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lisis de procesos e identificación de mejoras para aplicarlas en el siguiente ciclo.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7335500" y="9725025"/>
            <a:ext cx="571500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3B3B3B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41402" y="2695455"/>
            <a:ext cx="4411461" cy="5605067"/>
          </a:xfrm>
          <a:custGeom>
            <a:avLst/>
            <a:gdLst/>
            <a:ahLst/>
            <a:cxnLst/>
            <a:rect r="r" b="b" t="t" l="l"/>
            <a:pathLst>
              <a:path h="5605067" w="4411461">
                <a:moveTo>
                  <a:pt x="0" y="0"/>
                </a:moveTo>
                <a:lnTo>
                  <a:pt x="4411461" y="0"/>
                </a:lnTo>
                <a:lnTo>
                  <a:pt x="4411461" y="5605067"/>
                </a:lnTo>
                <a:lnTo>
                  <a:pt x="0" y="56050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28" t="0" r="-1352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140539" y="7795177"/>
            <a:ext cx="4658799" cy="5582439"/>
          </a:xfrm>
          <a:custGeom>
            <a:avLst/>
            <a:gdLst/>
            <a:ahLst/>
            <a:cxnLst/>
            <a:rect r="r" b="b" t="t" l="l"/>
            <a:pathLst>
              <a:path h="5582439" w="4658799">
                <a:moveTo>
                  <a:pt x="0" y="0"/>
                </a:moveTo>
                <a:lnTo>
                  <a:pt x="4658799" y="0"/>
                </a:lnTo>
                <a:lnTo>
                  <a:pt x="4658799" y="5582439"/>
                </a:lnTo>
                <a:lnTo>
                  <a:pt x="0" y="55824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515088">
            <a:off x="16952747" y="-1027087"/>
            <a:ext cx="4285120" cy="5936564"/>
          </a:xfrm>
          <a:custGeom>
            <a:avLst/>
            <a:gdLst/>
            <a:ahLst/>
            <a:cxnLst/>
            <a:rect r="r" b="b" t="t" l="l"/>
            <a:pathLst>
              <a:path h="5936564" w="4285120">
                <a:moveTo>
                  <a:pt x="0" y="0"/>
                </a:moveTo>
                <a:lnTo>
                  <a:pt x="4285120" y="0"/>
                </a:lnTo>
                <a:lnTo>
                  <a:pt x="4285120" y="5936564"/>
                </a:lnTo>
                <a:lnTo>
                  <a:pt x="0" y="59365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561851">
            <a:off x="-3644615" y="-2019423"/>
            <a:ext cx="5495603" cy="6556577"/>
          </a:xfrm>
          <a:custGeom>
            <a:avLst/>
            <a:gdLst/>
            <a:ahLst/>
            <a:cxnLst/>
            <a:rect r="r" b="b" t="t" l="l"/>
            <a:pathLst>
              <a:path h="6556577" w="5495603">
                <a:moveTo>
                  <a:pt x="0" y="0"/>
                </a:moveTo>
                <a:lnTo>
                  <a:pt x="5495604" y="0"/>
                </a:lnTo>
                <a:lnTo>
                  <a:pt x="5495604" y="6556576"/>
                </a:lnTo>
                <a:lnTo>
                  <a:pt x="0" y="65565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76355" y="3971473"/>
            <a:ext cx="2741555" cy="3679940"/>
          </a:xfrm>
          <a:custGeom>
            <a:avLst/>
            <a:gdLst/>
            <a:ahLst/>
            <a:cxnLst/>
            <a:rect r="r" b="b" t="t" l="l"/>
            <a:pathLst>
              <a:path h="3679940" w="2741555">
                <a:moveTo>
                  <a:pt x="0" y="0"/>
                </a:moveTo>
                <a:lnTo>
                  <a:pt x="2741555" y="0"/>
                </a:lnTo>
                <a:lnTo>
                  <a:pt x="2741555" y="3679939"/>
                </a:lnTo>
                <a:lnTo>
                  <a:pt x="0" y="36799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479775" y="2695455"/>
            <a:ext cx="4411461" cy="5605067"/>
          </a:xfrm>
          <a:custGeom>
            <a:avLst/>
            <a:gdLst/>
            <a:ahLst/>
            <a:cxnLst/>
            <a:rect r="r" b="b" t="t" l="l"/>
            <a:pathLst>
              <a:path h="5605067" w="4411461">
                <a:moveTo>
                  <a:pt x="0" y="0"/>
                </a:moveTo>
                <a:lnTo>
                  <a:pt x="4411461" y="0"/>
                </a:lnTo>
                <a:lnTo>
                  <a:pt x="4411461" y="5605067"/>
                </a:lnTo>
                <a:lnTo>
                  <a:pt x="0" y="56050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28" t="0" r="-13528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301056" y="3923848"/>
            <a:ext cx="2768898" cy="3607247"/>
          </a:xfrm>
          <a:custGeom>
            <a:avLst/>
            <a:gdLst/>
            <a:ahLst/>
            <a:cxnLst/>
            <a:rect r="r" b="b" t="t" l="l"/>
            <a:pathLst>
              <a:path h="3607247" w="2768898">
                <a:moveTo>
                  <a:pt x="0" y="0"/>
                </a:moveTo>
                <a:lnTo>
                  <a:pt x="2768898" y="0"/>
                </a:lnTo>
                <a:lnTo>
                  <a:pt x="2768898" y="3607246"/>
                </a:lnTo>
                <a:lnTo>
                  <a:pt x="0" y="36072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66" t="0" r="-666" b="-371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28762" y="2695455"/>
            <a:ext cx="4411461" cy="5605067"/>
          </a:xfrm>
          <a:custGeom>
            <a:avLst/>
            <a:gdLst/>
            <a:ahLst/>
            <a:cxnLst/>
            <a:rect r="r" b="b" t="t" l="l"/>
            <a:pathLst>
              <a:path h="5605067" w="4411461">
                <a:moveTo>
                  <a:pt x="0" y="0"/>
                </a:moveTo>
                <a:lnTo>
                  <a:pt x="4411461" y="0"/>
                </a:lnTo>
                <a:lnTo>
                  <a:pt x="4411461" y="5605067"/>
                </a:lnTo>
                <a:lnTo>
                  <a:pt x="0" y="56050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3528" t="0" r="-13528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781781" y="3971473"/>
            <a:ext cx="2724438" cy="3679940"/>
          </a:xfrm>
          <a:custGeom>
            <a:avLst/>
            <a:gdLst/>
            <a:ahLst/>
            <a:cxnLst/>
            <a:rect r="r" b="b" t="t" l="l"/>
            <a:pathLst>
              <a:path h="3679940" w="2724438">
                <a:moveTo>
                  <a:pt x="0" y="0"/>
                </a:moveTo>
                <a:lnTo>
                  <a:pt x="2724438" y="0"/>
                </a:lnTo>
                <a:lnTo>
                  <a:pt x="2724438" y="3679939"/>
                </a:lnTo>
                <a:lnTo>
                  <a:pt x="0" y="36799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2178" r="0" b="-2234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184724" y="1162050"/>
            <a:ext cx="1918553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40"/>
              </a:lnSpc>
            </a:pPr>
            <a:r>
              <a:rPr lang="en-US" sz="6000" spc="-348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Roles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10513" y="2960299"/>
            <a:ext cx="3249043" cy="963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3600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Scrum master y Developer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30718" y="2960299"/>
            <a:ext cx="3407550" cy="496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3600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Product owner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53034" y="2960299"/>
            <a:ext cx="2328788" cy="496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3600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Developer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56759" y="7626175"/>
            <a:ext cx="2121339" cy="379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8"/>
              </a:lnSpc>
            </a:pPr>
            <a:r>
              <a:rPr lang="en-US" sz="2099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Rocio Saavedra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36455" y="7677544"/>
            <a:ext cx="2421354" cy="379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8"/>
              </a:lnSpc>
            </a:pPr>
            <a:r>
              <a:rPr lang="en-US" sz="2099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Priscila Rodríguez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93472" y="8400535"/>
            <a:ext cx="2517359" cy="798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8"/>
              </a:lnSpc>
            </a:pPr>
            <a:r>
              <a:rPr lang="en-US" sz="20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Coordina al equipo y facilita el trabajo.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55450" y="8377174"/>
            <a:ext cx="3977100" cy="798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8"/>
              </a:lnSpc>
            </a:pPr>
            <a:r>
              <a:rPr lang="en-US" sz="20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Define y prioriza las necesidades del proyecto.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45575" y="8400535"/>
            <a:ext cx="2543706" cy="798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8"/>
              </a:lnSpc>
            </a:pPr>
            <a:r>
              <a:rPr lang="en-US" sz="20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Desarrolla y prueba las funcionalidades.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964278" y="7626175"/>
            <a:ext cx="2140429" cy="379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8"/>
              </a:lnSpc>
            </a:pPr>
            <a:r>
              <a:rPr lang="en-US" sz="2099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Matias Saldivar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335500" y="9725025"/>
            <a:ext cx="571500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3B3B3B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05350" y="1277302"/>
            <a:ext cx="88773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sz="6000" spc="-348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Evidencias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24000" y="2781300"/>
            <a:ext cx="7429500" cy="762000"/>
            <a:chOff x="0" y="0"/>
            <a:chExt cx="9906000" cy="10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90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9906000">
                  <a:moveTo>
                    <a:pt x="101600" y="0"/>
                  </a:moveTo>
                  <a:lnTo>
                    <a:pt x="9804400" y="0"/>
                  </a:lnTo>
                  <a:cubicBezTo>
                    <a:pt x="9860512" y="0"/>
                    <a:pt x="9906000" y="45488"/>
                    <a:pt x="9906000" y="101600"/>
                  </a:cubicBezTo>
                  <a:lnTo>
                    <a:pt x="9906000" y="914400"/>
                  </a:lnTo>
                  <a:cubicBezTo>
                    <a:pt x="9906000" y="970512"/>
                    <a:pt x="9860512" y="1016000"/>
                    <a:pt x="98044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8E4D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906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76400" y="2895600"/>
            <a:ext cx="76200" cy="533400"/>
            <a:chOff x="0" y="0"/>
            <a:chExt cx="1016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30480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551992" y="0"/>
                    <a:pt x="711200" y="159208"/>
                    <a:pt x="711200" y="355600"/>
                  </a:cubicBezTo>
                  <a:cubicBezTo>
                    <a:pt x="711200" y="551992"/>
                    <a:pt x="551992" y="711200"/>
                    <a:pt x="355600" y="711200"/>
                  </a:cubicBezTo>
                  <a:cubicBezTo>
                    <a:pt x="159208" y="711200"/>
                    <a:pt x="0" y="551992"/>
                    <a:pt x="0" y="355600"/>
                  </a:cubicBez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EDCFD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16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905000" y="2981325"/>
            <a:ext cx="476250" cy="38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>
                <a:solidFill>
                  <a:srgbClr val="EDCFD4"/>
                </a:solidFill>
                <a:latin typeface="Lovelace"/>
                <a:ea typeface="Lovelace"/>
                <a:cs typeface="Lovelace"/>
                <a:sym typeface="Lovelace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57450" y="2952750"/>
            <a:ext cx="6286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Product Backlog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34500" y="2781300"/>
            <a:ext cx="7429500" cy="762000"/>
            <a:chOff x="0" y="0"/>
            <a:chExt cx="9906000" cy="101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0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9906000">
                  <a:moveTo>
                    <a:pt x="101600" y="0"/>
                  </a:moveTo>
                  <a:lnTo>
                    <a:pt x="9804400" y="0"/>
                  </a:lnTo>
                  <a:cubicBezTo>
                    <a:pt x="9860512" y="0"/>
                    <a:pt x="9906000" y="45488"/>
                    <a:pt x="9906000" y="101600"/>
                  </a:cubicBezTo>
                  <a:lnTo>
                    <a:pt x="9906000" y="914400"/>
                  </a:lnTo>
                  <a:cubicBezTo>
                    <a:pt x="9906000" y="970512"/>
                    <a:pt x="9860512" y="1016000"/>
                    <a:pt x="98044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8E4D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906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486900" y="2895600"/>
            <a:ext cx="76200" cy="533400"/>
            <a:chOff x="0" y="0"/>
            <a:chExt cx="101600" cy="711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-30480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551992" y="0"/>
                    <a:pt x="711200" y="159208"/>
                    <a:pt x="711200" y="355600"/>
                  </a:cubicBezTo>
                  <a:cubicBezTo>
                    <a:pt x="711200" y="551992"/>
                    <a:pt x="551992" y="711200"/>
                    <a:pt x="355600" y="711200"/>
                  </a:cubicBezTo>
                  <a:cubicBezTo>
                    <a:pt x="159208" y="711200"/>
                    <a:pt x="0" y="551992"/>
                    <a:pt x="0" y="355600"/>
                  </a:cubicBez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E5E2B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16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715500" y="2986088"/>
            <a:ext cx="552450" cy="38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>
                <a:solidFill>
                  <a:srgbClr val="E5E2B9"/>
                </a:solidFill>
                <a:latin typeface="Lovelace"/>
                <a:ea typeface="Lovelace"/>
                <a:cs typeface="Lovelace"/>
                <a:sym typeface="Lovelace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44150" y="2952750"/>
            <a:ext cx="6286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Historias de Usuario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524000" y="3771900"/>
            <a:ext cx="7429500" cy="762000"/>
            <a:chOff x="0" y="0"/>
            <a:chExt cx="9906000" cy="1016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0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9906000">
                  <a:moveTo>
                    <a:pt x="101600" y="0"/>
                  </a:moveTo>
                  <a:lnTo>
                    <a:pt x="9804400" y="0"/>
                  </a:lnTo>
                  <a:cubicBezTo>
                    <a:pt x="9860512" y="0"/>
                    <a:pt x="9906000" y="45488"/>
                    <a:pt x="9906000" y="101600"/>
                  </a:cubicBezTo>
                  <a:lnTo>
                    <a:pt x="9906000" y="914400"/>
                  </a:lnTo>
                  <a:cubicBezTo>
                    <a:pt x="9906000" y="970512"/>
                    <a:pt x="9860512" y="1016000"/>
                    <a:pt x="98044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8E4D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906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76400" y="3886200"/>
            <a:ext cx="76200" cy="533400"/>
            <a:chOff x="0" y="0"/>
            <a:chExt cx="101600" cy="71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-30480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551992" y="0"/>
                    <a:pt x="711200" y="159208"/>
                    <a:pt x="711200" y="355600"/>
                  </a:cubicBezTo>
                  <a:cubicBezTo>
                    <a:pt x="711200" y="551992"/>
                    <a:pt x="551992" y="711200"/>
                    <a:pt x="355600" y="711200"/>
                  </a:cubicBezTo>
                  <a:cubicBezTo>
                    <a:pt x="159208" y="711200"/>
                    <a:pt x="0" y="551992"/>
                    <a:pt x="0" y="355600"/>
                  </a:cubicBez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DEDBC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16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905000" y="3976687"/>
            <a:ext cx="552450" cy="38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>
                <a:solidFill>
                  <a:srgbClr val="DEDBCE"/>
                </a:solidFill>
                <a:latin typeface="Lovelace"/>
                <a:ea typeface="Lovelace"/>
                <a:cs typeface="Lovelace"/>
                <a:sym typeface="Lovelace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33650" y="3943350"/>
            <a:ext cx="6286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Arquitectura del Sistema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334500" y="3771900"/>
            <a:ext cx="7429500" cy="762000"/>
            <a:chOff x="0" y="0"/>
            <a:chExt cx="9906000" cy="1016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90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9906000">
                  <a:moveTo>
                    <a:pt x="101600" y="0"/>
                  </a:moveTo>
                  <a:lnTo>
                    <a:pt x="9804400" y="0"/>
                  </a:lnTo>
                  <a:cubicBezTo>
                    <a:pt x="9860512" y="0"/>
                    <a:pt x="9906000" y="45488"/>
                    <a:pt x="9906000" y="101600"/>
                  </a:cubicBezTo>
                  <a:lnTo>
                    <a:pt x="9906000" y="914400"/>
                  </a:lnTo>
                  <a:cubicBezTo>
                    <a:pt x="9906000" y="970512"/>
                    <a:pt x="9860512" y="1016000"/>
                    <a:pt x="98044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8E4D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906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486900" y="3886200"/>
            <a:ext cx="76200" cy="533400"/>
            <a:chOff x="0" y="0"/>
            <a:chExt cx="101600" cy="711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-30480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551992" y="0"/>
                    <a:pt x="711200" y="159208"/>
                    <a:pt x="711200" y="355600"/>
                  </a:cubicBezTo>
                  <a:cubicBezTo>
                    <a:pt x="711200" y="551992"/>
                    <a:pt x="551992" y="711200"/>
                    <a:pt x="355600" y="711200"/>
                  </a:cubicBezTo>
                  <a:cubicBezTo>
                    <a:pt x="159208" y="711200"/>
                    <a:pt x="0" y="551992"/>
                    <a:pt x="0" y="355600"/>
                  </a:cubicBez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CBD2BA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16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715500" y="3971925"/>
            <a:ext cx="476250" cy="38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>
                <a:solidFill>
                  <a:srgbClr val="CBD2BA"/>
                </a:solidFill>
                <a:latin typeface="Lovelace"/>
                <a:ea typeface="Lovelace"/>
                <a:cs typeface="Lovelace"/>
                <a:sym typeface="Lovelace"/>
              </a:rPr>
              <a:t>04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67950" y="3943350"/>
            <a:ext cx="6286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Modelo de Base de Datos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524000" y="4762500"/>
            <a:ext cx="7429500" cy="762000"/>
            <a:chOff x="0" y="0"/>
            <a:chExt cx="9906000" cy="1016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90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9906000">
                  <a:moveTo>
                    <a:pt x="101600" y="0"/>
                  </a:moveTo>
                  <a:lnTo>
                    <a:pt x="9804400" y="0"/>
                  </a:lnTo>
                  <a:cubicBezTo>
                    <a:pt x="9860512" y="0"/>
                    <a:pt x="9906000" y="45488"/>
                    <a:pt x="9906000" y="101600"/>
                  </a:cubicBezTo>
                  <a:lnTo>
                    <a:pt x="9906000" y="914400"/>
                  </a:lnTo>
                  <a:cubicBezTo>
                    <a:pt x="9906000" y="970512"/>
                    <a:pt x="9860512" y="1016000"/>
                    <a:pt x="98044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8E4DF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906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76400" y="4876800"/>
            <a:ext cx="76200" cy="533400"/>
            <a:chOff x="0" y="0"/>
            <a:chExt cx="101600" cy="711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-30480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551992" y="0"/>
                    <a:pt x="711200" y="159208"/>
                    <a:pt x="711200" y="355600"/>
                  </a:cubicBezTo>
                  <a:cubicBezTo>
                    <a:pt x="711200" y="551992"/>
                    <a:pt x="551992" y="711200"/>
                    <a:pt x="355600" y="711200"/>
                  </a:cubicBezTo>
                  <a:cubicBezTo>
                    <a:pt x="159208" y="711200"/>
                    <a:pt x="0" y="551992"/>
                    <a:pt x="0" y="355600"/>
                  </a:cubicBez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EDCFD4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16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905000" y="4967288"/>
            <a:ext cx="552450" cy="38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>
                <a:solidFill>
                  <a:srgbClr val="EDCFD4"/>
                </a:solidFill>
                <a:latin typeface="Lovelace"/>
                <a:ea typeface="Lovelace"/>
                <a:cs typeface="Lovelace"/>
                <a:sym typeface="Lovelace"/>
              </a:rPr>
              <a:t>05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533650" y="4933950"/>
            <a:ext cx="6286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Plan de Pruebas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334500" y="4762500"/>
            <a:ext cx="7429500" cy="762000"/>
            <a:chOff x="0" y="0"/>
            <a:chExt cx="9906000" cy="1016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90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9906000">
                  <a:moveTo>
                    <a:pt x="101600" y="0"/>
                  </a:moveTo>
                  <a:lnTo>
                    <a:pt x="9804400" y="0"/>
                  </a:lnTo>
                  <a:cubicBezTo>
                    <a:pt x="9860512" y="0"/>
                    <a:pt x="9906000" y="45488"/>
                    <a:pt x="9906000" y="101600"/>
                  </a:cubicBezTo>
                  <a:lnTo>
                    <a:pt x="9906000" y="914400"/>
                  </a:lnTo>
                  <a:cubicBezTo>
                    <a:pt x="9906000" y="970512"/>
                    <a:pt x="9860512" y="1016000"/>
                    <a:pt x="98044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8E4DF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9906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486900" y="4876800"/>
            <a:ext cx="76200" cy="533400"/>
            <a:chOff x="0" y="0"/>
            <a:chExt cx="101600" cy="711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-30480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551992" y="0"/>
                    <a:pt x="711200" y="159208"/>
                    <a:pt x="711200" y="355600"/>
                  </a:cubicBezTo>
                  <a:cubicBezTo>
                    <a:pt x="711200" y="551992"/>
                    <a:pt x="551992" y="711200"/>
                    <a:pt x="355600" y="711200"/>
                  </a:cubicBezTo>
                  <a:cubicBezTo>
                    <a:pt x="159208" y="711200"/>
                    <a:pt x="0" y="551992"/>
                    <a:pt x="0" y="355600"/>
                  </a:cubicBez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E5E2B9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016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9715500" y="4967288"/>
            <a:ext cx="552450" cy="38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>
                <a:solidFill>
                  <a:srgbClr val="E5E2B9"/>
                </a:solidFill>
                <a:latin typeface="Lovelace"/>
                <a:ea typeface="Lovelace"/>
                <a:cs typeface="Lovelace"/>
                <a:sym typeface="Lovelace"/>
              </a:rPr>
              <a:t>06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344150" y="4933950"/>
            <a:ext cx="6286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Carta Gantt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524000" y="5753100"/>
            <a:ext cx="7429500" cy="762000"/>
            <a:chOff x="0" y="0"/>
            <a:chExt cx="9906000" cy="1016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90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9906000">
                  <a:moveTo>
                    <a:pt x="101600" y="0"/>
                  </a:moveTo>
                  <a:lnTo>
                    <a:pt x="9804400" y="0"/>
                  </a:lnTo>
                  <a:cubicBezTo>
                    <a:pt x="9860512" y="0"/>
                    <a:pt x="9906000" y="45488"/>
                    <a:pt x="9906000" y="101600"/>
                  </a:cubicBezTo>
                  <a:lnTo>
                    <a:pt x="9906000" y="914400"/>
                  </a:lnTo>
                  <a:cubicBezTo>
                    <a:pt x="9906000" y="970512"/>
                    <a:pt x="9860512" y="1016000"/>
                    <a:pt x="98044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8E4DF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9906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676400" y="5867400"/>
            <a:ext cx="76200" cy="533400"/>
            <a:chOff x="0" y="0"/>
            <a:chExt cx="101600" cy="711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-30480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551992" y="0"/>
                    <a:pt x="711200" y="159208"/>
                    <a:pt x="711200" y="355600"/>
                  </a:cubicBezTo>
                  <a:cubicBezTo>
                    <a:pt x="711200" y="551992"/>
                    <a:pt x="551992" y="711200"/>
                    <a:pt x="355600" y="711200"/>
                  </a:cubicBezTo>
                  <a:cubicBezTo>
                    <a:pt x="159208" y="711200"/>
                    <a:pt x="0" y="551992"/>
                    <a:pt x="0" y="355600"/>
                  </a:cubicBez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CBD2BA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016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905000" y="5953125"/>
            <a:ext cx="476250" cy="38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>
                <a:solidFill>
                  <a:srgbClr val="CBD2BA"/>
                </a:solidFill>
                <a:latin typeface="Lovelace"/>
                <a:ea typeface="Lovelace"/>
                <a:cs typeface="Lovelace"/>
                <a:sym typeface="Lovelace"/>
              </a:rPr>
              <a:t>07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457450" y="5924550"/>
            <a:ext cx="6286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Evidencias de los Sprints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9334500" y="5753100"/>
            <a:ext cx="7429500" cy="762000"/>
            <a:chOff x="0" y="0"/>
            <a:chExt cx="9906000" cy="10160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90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9906000">
                  <a:moveTo>
                    <a:pt x="101600" y="0"/>
                  </a:moveTo>
                  <a:lnTo>
                    <a:pt x="9804400" y="0"/>
                  </a:lnTo>
                  <a:cubicBezTo>
                    <a:pt x="9860512" y="0"/>
                    <a:pt x="9906000" y="45488"/>
                    <a:pt x="9906000" y="101600"/>
                  </a:cubicBezTo>
                  <a:lnTo>
                    <a:pt x="9906000" y="914400"/>
                  </a:lnTo>
                  <a:cubicBezTo>
                    <a:pt x="9906000" y="970512"/>
                    <a:pt x="9860512" y="1016000"/>
                    <a:pt x="98044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8E4DF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9906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486900" y="5867400"/>
            <a:ext cx="76200" cy="533400"/>
            <a:chOff x="0" y="0"/>
            <a:chExt cx="101600" cy="711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-30480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551992" y="0"/>
                    <a:pt x="711200" y="159208"/>
                    <a:pt x="711200" y="355600"/>
                  </a:cubicBezTo>
                  <a:cubicBezTo>
                    <a:pt x="711200" y="551992"/>
                    <a:pt x="551992" y="711200"/>
                    <a:pt x="355600" y="711200"/>
                  </a:cubicBezTo>
                  <a:cubicBezTo>
                    <a:pt x="159208" y="711200"/>
                    <a:pt x="0" y="551992"/>
                    <a:pt x="0" y="355600"/>
                  </a:cubicBez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DEDBCE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016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9715500" y="5957888"/>
            <a:ext cx="552450" cy="38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>
                <a:solidFill>
                  <a:srgbClr val="DEDBCE"/>
                </a:solidFill>
                <a:latin typeface="Lovelace"/>
                <a:ea typeface="Lovelace"/>
                <a:cs typeface="Lovelace"/>
                <a:sym typeface="Lovelace"/>
              </a:rPr>
              <a:t>08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344150" y="5922010"/>
            <a:ext cx="6286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Prototipos / Diseños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524000" y="6743700"/>
            <a:ext cx="7429500" cy="762000"/>
            <a:chOff x="0" y="0"/>
            <a:chExt cx="9906000" cy="10160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90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9906000">
                  <a:moveTo>
                    <a:pt x="101600" y="0"/>
                  </a:moveTo>
                  <a:lnTo>
                    <a:pt x="9804400" y="0"/>
                  </a:lnTo>
                  <a:cubicBezTo>
                    <a:pt x="9860512" y="0"/>
                    <a:pt x="9906000" y="45488"/>
                    <a:pt x="9906000" y="101600"/>
                  </a:cubicBezTo>
                  <a:lnTo>
                    <a:pt x="9906000" y="914400"/>
                  </a:lnTo>
                  <a:cubicBezTo>
                    <a:pt x="9906000" y="970512"/>
                    <a:pt x="9860512" y="1016000"/>
                    <a:pt x="9804400" y="1016000"/>
                  </a:cubicBezTo>
                  <a:lnTo>
                    <a:pt x="101600" y="1016000"/>
                  </a:lnTo>
                  <a:cubicBezTo>
                    <a:pt x="45488" y="1016000"/>
                    <a:pt x="0" y="970512"/>
                    <a:pt x="0" y="9144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8E4DF"/>
              </a:solidFill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9906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676400" y="6858000"/>
            <a:ext cx="76200" cy="533400"/>
            <a:chOff x="0" y="0"/>
            <a:chExt cx="101600" cy="7112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-30480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551992" y="0"/>
                    <a:pt x="711200" y="159208"/>
                    <a:pt x="711200" y="355600"/>
                  </a:cubicBezTo>
                  <a:cubicBezTo>
                    <a:pt x="711200" y="551992"/>
                    <a:pt x="551992" y="711200"/>
                    <a:pt x="355600" y="711200"/>
                  </a:cubicBezTo>
                  <a:cubicBezTo>
                    <a:pt x="159208" y="711200"/>
                    <a:pt x="0" y="551992"/>
                    <a:pt x="0" y="355600"/>
                  </a:cubicBezTo>
                  <a:cubicBezTo>
                    <a:pt x="0" y="159208"/>
                    <a:pt x="159208" y="0"/>
                    <a:pt x="355600" y="0"/>
                  </a:cubicBezTo>
                  <a:close/>
                </a:path>
              </a:pathLst>
            </a:custGeom>
            <a:solidFill>
              <a:srgbClr val="EDCFD4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016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1905000" y="6948488"/>
            <a:ext cx="552450" cy="38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>
                <a:solidFill>
                  <a:srgbClr val="EDCFD4"/>
                </a:solidFill>
                <a:latin typeface="Lovelace"/>
                <a:ea typeface="Lovelace"/>
                <a:cs typeface="Lovelace"/>
                <a:sym typeface="Lovelace"/>
              </a:rPr>
              <a:t>09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533650" y="6915150"/>
            <a:ext cx="62865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Código Fuente</a:t>
            </a:r>
          </a:p>
        </p:txBody>
      </p:sp>
      <p:sp>
        <p:nvSpPr>
          <p:cNvPr name="Freeform 75" id="75"/>
          <p:cNvSpPr/>
          <p:nvPr/>
        </p:nvSpPr>
        <p:spPr>
          <a:xfrm flipH="false" flipV="false" rot="-2700000">
            <a:off x="-629093" y="-2698962"/>
            <a:ext cx="4658799" cy="5582439"/>
          </a:xfrm>
          <a:custGeom>
            <a:avLst/>
            <a:gdLst/>
            <a:ahLst/>
            <a:cxnLst/>
            <a:rect r="r" b="b" t="t" l="l"/>
            <a:pathLst>
              <a:path h="5582439" w="4658799">
                <a:moveTo>
                  <a:pt x="0" y="0"/>
                </a:moveTo>
                <a:lnTo>
                  <a:pt x="4658799" y="0"/>
                </a:lnTo>
                <a:lnTo>
                  <a:pt x="4658799" y="5582439"/>
                </a:lnTo>
                <a:lnTo>
                  <a:pt x="0" y="5582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-1369738">
            <a:off x="14511498" y="8424359"/>
            <a:ext cx="5495603" cy="6556577"/>
          </a:xfrm>
          <a:custGeom>
            <a:avLst/>
            <a:gdLst/>
            <a:ahLst/>
            <a:cxnLst/>
            <a:rect r="r" b="b" t="t" l="l"/>
            <a:pathLst>
              <a:path h="6556577" w="5495603">
                <a:moveTo>
                  <a:pt x="0" y="0"/>
                </a:moveTo>
                <a:lnTo>
                  <a:pt x="5495604" y="0"/>
                </a:lnTo>
                <a:lnTo>
                  <a:pt x="5495604" y="6556577"/>
                </a:lnTo>
                <a:lnTo>
                  <a:pt x="0" y="65565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1515088">
            <a:off x="-1113860" y="8136062"/>
            <a:ext cx="4285120" cy="5936564"/>
          </a:xfrm>
          <a:custGeom>
            <a:avLst/>
            <a:gdLst/>
            <a:ahLst/>
            <a:cxnLst/>
            <a:rect r="r" b="b" t="t" l="l"/>
            <a:pathLst>
              <a:path h="5936564" w="4285120">
                <a:moveTo>
                  <a:pt x="0" y="0"/>
                </a:moveTo>
                <a:lnTo>
                  <a:pt x="4285120" y="0"/>
                </a:lnTo>
                <a:lnTo>
                  <a:pt x="4285120" y="5936564"/>
                </a:lnTo>
                <a:lnTo>
                  <a:pt x="0" y="59365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8" id="78"/>
          <p:cNvSpPr txBox="true"/>
          <p:nvPr/>
        </p:nvSpPr>
        <p:spPr>
          <a:xfrm rot="0">
            <a:off x="17335500" y="9725025"/>
            <a:ext cx="571500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3B3B3B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73017" y="1305877"/>
            <a:ext cx="7741966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sz="6000" spc="-348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Evidencias de sprint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905000" y="3333750"/>
            <a:ext cx="76200" cy="952500"/>
            <a:chOff x="0" y="0"/>
            <a:chExt cx="101600" cy="127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6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01600">
                  <a:moveTo>
                    <a:pt x="10160" y="0"/>
                  </a:moveTo>
                  <a:lnTo>
                    <a:pt x="91440" y="0"/>
                  </a:lnTo>
                  <a:cubicBezTo>
                    <a:pt x="94135" y="0"/>
                    <a:pt x="96719" y="1070"/>
                    <a:pt x="98624" y="2976"/>
                  </a:cubicBezTo>
                  <a:cubicBezTo>
                    <a:pt x="100530" y="4881"/>
                    <a:pt x="101600" y="7465"/>
                    <a:pt x="101600" y="10160"/>
                  </a:cubicBezTo>
                  <a:lnTo>
                    <a:pt x="101600" y="1259840"/>
                  </a:lnTo>
                  <a:cubicBezTo>
                    <a:pt x="101600" y="1262535"/>
                    <a:pt x="100530" y="1265119"/>
                    <a:pt x="98624" y="1267024"/>
                  </a:cubicBezTo>
                  <a:cubicBezTo>
                    <a:pt x="96719" y="1268930"/>
                    <a:pt x="94135" y="1270000"/>
                    <a:pt x="91440" y="1270000"/>
                  </a:cubicBezTo>
                  <a:lnTo>
                    <a:pt x="10160" y="1270000"/>
                  </a:lnTo>
                  <a:cubicBezTo>
                    <a:pt x="7465" y="1270000"/>
                    <a:pt x="4881" y="1268930"/>
                    <a:pt x="2976" y="1267024"/>
                  </a:cubicBezTo>
                  <a:cubicBezTo>
                    <a:pt x="1070" y="1265119"/>
                    <a:pt x="0" y="1262535"/>
                    <a:pt x="0" y="1259840"/>
                  </a:cubicBezTo>
                  <a:lnTo>
                    <a:pt x="0" y="10160"/>
                  </a:lnTo>
                  <a:cubicBezTo>
                    <a:pt x="0" y="4549"/>
                    <a:pt x="4549" y="0"/>
                    <a:pt x="10160" y="0"/>
                  </a:cubicBezTo>
                  <a:close/>
                </a:path>
              </a:pathLst>
            </a:custGeom>
            <a:solidFill>
              <a:srgbClr val="A8AF9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16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71700" y="3590925"/>
            <a:ext cx="57150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>
                <a:solidFill>
                  <a:srgbClr val="A8AF9A"/>
                </a:solidFill>
                <a:latin typeface="Lovelace"/>
                <a:ea typeface="Lovelace"/>
                <a:cs typeface="Lovelace"/>
                <a:sym typeface="Lovelace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90825" y="3562350"/>
            <a:ext cx="592455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Sprint Backlog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905000" y="3333750"/>
            <a:ext cx="6858000" cy="952500"/>
            <a:chOff x="0" y="0"/>
            <a:chExt cx="9144000" cy="127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9144000">
                  <a:moveTo>
                    <a:pt x="127000" y="0"/>
                  </a:moveTo>
                  <a:lnTo>
                    <a:pt x="9017000" y="0"/>
                  </a:lnTo>
                  <a:cubicBezTo>
                    <a:pt x="9087140" y="0"/>
                    <a:pt x="9144000" y="56860"/>
                    <a:pt x="9144000" y="127000"/>
                  </a:cubicBezTo>
                  <a:lnTo>
                    <a:pt x="9144000" y="1143000"/>
                  </a:lnTo>
                  <a:cubicBezTo>
                    <a:pt x="9144000" y="1213140"/>
                    <a:pt x="9087140" y="1270000"/>
                    <a:pt x="9017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A8AF9A">
                <a:alpha val="1490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0" y="3333750"/>
            <a:ext cx="76200" cy="952500"/>
            <a:chOff x="0" y="0"/>
            <a:chExt cx="101600" cy="127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6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01600">
                  <a:moveTo>
                    <a:pt x="10160" y="0"/>
                  </a:moveTo>
                  <a:lnTo>
                    <a:pt x="91440" y="0"/>
                  </a:lnTo>
                  <a:cubicBezTo>
                    <a:pt x="94135" y="0"/>
                    <a:pt x="96719" y="1070"/>
                    <a:pt x="98624" y="2976"/>
                  </a:cubicBezTo>
                  <a:cubicBezTo>
                    <a:pt x="100530" y="4881"/>
                    <a:pt x="101600" y="7465"/>
                    <a:pt x="101600" y="10160"/>
                  </a:cubicBezTo>
                  <a:lnTo>
                    <a:pt x="101600" y="1259840"/>
                  </a:lnTo>
                  <a:cubicBezTo>
                    <a:pt x="101600" y="1262535"/>
                    <a:pt x="100530" y="1265119"/>
                    <a:pt x="98624" y="1267024"/>
                  </a:cubicBezTo>
                  <a:cubicBezTo>
                    <a:pt x="96719" y="1268930"/>
                    <a:pt x="94135" y="1270000"/>
                    <a:pt x="91440" y="1270000"/>
                  </a:cubicBezTo>
                  <a:lnTo>
                    <a:pt x="10160" y="1270000"/>
                  </a:lnTo>
                  <a:cubicBezTo>
                    <a:pt x="7465" y="1270000"/>
                    <a:pt x="4881" y="1268930"/>
                    <a:pt x="2976" y="1267024"/>
                  </a:cubicBezTo>
                  <a:cubicBezTo>
                    <a:pt x="1070" y="1265119"/>
                    <a:pt x="0" y="1262535"/>
                    <a:pt x="0" y="1259840"/>
                  </a:cubicBezTo>
                  <a:lnTo>
                    <a:pt x="0" y="10160"/>
                  </a:lnTo>
                  <a:cubicBezTo>
                    <a:pt x="0" y="4549"/>
                    <a:pt x="4549" y="0"/>
                    <a:pt x="10160" y="0"/>
                  </a:cubicBezTo>
                  <a:close/>
                </a:path>
              </a:pathLst>
            </a:custGeom>
            <a:solidFill>
              <a:srgbClr val="EDCFD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16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791700" y="3590925"/>
            <a:ext cx="76200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>
                <a:solidFill>
                  <a:srgbClr val="EDCFD4"/>
                </a:solidFill>
                <a:latin typeface="Lovelace"/>
                <a:ea typeface="Lovelace"/>
                <a:cs typeface="Lovelace"/>
                <a:sym typeface="Lovelace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53700" y="3571875"/>
            <a:ext cx="592455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Tablero Scrum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525000" y="3362325"/>
            <a:ext cx="6858000" cy="952500"/>
            <a:chOff x="0" y="0"/>
            <a:chExt cx="9144000" cy="127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9144000">
                  <a:moveTo>
                    <a:pt x="127000" y="0"/>
                  </a:moveTo>
                  <a:lnTo>
                    <a:pt x="9017000" y="0"/>
                  </a:lnTo>
                  <a:cubicBezTo>
                    <a:pt x="9087140" y="0"/>
                    <a:pt x="9144000" y="56860"/>
                    <a:pt x="9144000" y="127000"/>
                  </a:cubicBezTo>
                  <a:lnTo>
                    <a:pt x="9144000" y="1143000"/>
                  </a:lnTo>
                  <a:cubicBezTo>
                    <a:pt x="9144000" y="1213140"/>
                    <a:pt x="9087140" y="1270000"/>
                    <a:pt x="9017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DCFD4">
                <a:alpha val="14902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144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905000" y="4572000"/>
            <a:ext cx="76200" cy="952500"/>
            <a:chOff x="0" y="0"/>
            <a:chExt cx="101600" cy="127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6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01600">
                  <a:moveTo>
                    <a:pt x="10160" y="0"/>
                  </a:moveTo>
                  <a:lnTo>
                    <a:pt x="91440" y="0"/>
                  </a:lnTo>
                  <a:cubicBezTo>
                    <a:pt x="94135" y="0"/>
                    <a:pt x="96719" y="1070"/>
                    <a:pt x="98624" y="2976"/>
                  </a:cubicBezTo>
                  <a:cubicBezTo>
                    <a:pt x="100530" y="4881"/>
                    <a:pt x="101600" y="7465"/>
                    <a:pt x="101600" y="10160"/>
                  </a:cubicBezTo>
                  <a:lnTo>
                    <a:pt x="101600" y="1259840"/>
                  </a:lnTo>
                  <a:cubicBezTo>
                    <a:pt x="101600" y="1262535"/>
                    <a:pt x="100530" y="1265119"/>
                    <a:pt x="98624" y="1267024"/>
                  </a:cubicBezTo>
                  <a:cubicBezTo>
                    <a:pt x="96719" y="1268930"/>
                    <a:pt x="94135" y="1270000"/>
                    <a:pt x="91440" y="1270000"/>
                  </a:cubicBezTo>
                  <a:lnTo>
                    <a:pt x="10160" y="1270000"/>
                  </a:lnTo>
                  <a:cubicBezTo>
                    <a:pt x="7465" y="1270000"/>
                    <a:pt x="4881" y="1268930"/>
                    <a:pt x="2976" y="1267024"/>
                  </a:cubicBezTo>
                  <a:cubicBezTo>
                    <a:pt x="1070" y="1265119"/>
                    <a:pt x="0" y="1262535"/>
                    <a:pt x="0" y="1259840"/>
                  </a:cubicBezTo>
                  <a:lnTo>
                    <a:pt x="0" y="10160"/>
                  </a:lnTo>
                  <a:cubicBezTo>
                    <a:pt x="0" y="4549"/>
                    <a:pt x="4549" y="0"/>
                    <a:pt x="10160" y="0"/>
                  </a:cubicBezTo>
                  <a:close/>
                </a:path>
              </a:pathLst>
            </a:custGeom>
            <a:solidFill>
              <a:srgbClr val="E5E2B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16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171700" y="4829175"/>
            <a:ext cx="752475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>
                <a:solidFill>
                  <a:srgbClr val="E5E2B9"/>
                </a:solidFill>
                <a:latin typeface="Lovelace"/>
                <a:ea typeface="Lovelace"/>
                <a:cs typeface="Lovelace"/>
                <a:sym typeface="Lovelace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938055" y="4800600"/>
            <a:ext cx="592455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Daily Meetings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905000" y="4567238"/>
            <a:ext cx="6858000" cy="952500"/>
            <a:chOff x="0" y="0"/>
            <a:chExt cx="9144000" cy="127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9144000">
                  <a:moveTo>
                    <a:pt x="127000" y="0"/>
                  </a:moveTo>
                  <a:lnTo>
                    <a:pt x="9017000" y="0"/>
                  </a:lnTo>
                  <a:cubicBezTo>
                    <a:pt x="9087140" y="0"/>
                    <a:pt x="9144000" y="56860"/>
                    <a:pt x="9144000" y="127000"/>
                  </a:cubicBezTo>
                  <a:lnTo>
                    <a:pt x="9144000" y="1143000"/>
                  </a:lnTo>
                  <a:cubicBezTo>
                    <a:pt x="9144000" y="1213140"/>
                    <a:pt x="9087140" y="1270000"/>
                    <a:pt x="9017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5E2B9">
                <a:alpha val="14902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144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25000" y="4572000"/>
            <a:ext cx="76200" cy="952500"/>
            <a:chOff x="0" y="0"/>
            <a:chExt cx="101600" cy="1270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16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01600">
                  <a:moveTo>
                    <a:pt x="10160" y="0"/>
                  </a:moveTo>
                  <a:lnTo>
                    <a:pt x="91440" y="0"/>
                  </a:lnTo>
                  <a:cubicBezTo>
                    <a:pt x="94135" y="0"/>
                    <a:pt x="96719" y="1070"/>
                    <a:pt x="98624" y="2976"/>
                  </a:cubicBezTo>
                  <a:cubicBezTo>
                    <a:pt x="100530" y="4881"/>
                    <a:pt x="101600" y="7465"/>
                    <a:pt x="101600" y="10160"/>
                  </a:cubicBezTo>
                  <a:lnTo>
                    <a:pt x="101600" y="1259840"/>
                  </a:lnTo>
                  <a:cubicBezTo>
                    <a:pt x="101600" y="1262535"/>
                    <a:pt x="100530" y="1265119"/>
                    <a:pt x="98624" y="1267024"/>
                  </a:cubicBezTo>
                  <a:cubicBezTo>
                    <a:pt x="96719" y="1268930"/>
                    <a:pt x="94135" y="1270000"/>
                    <a:pt x="91440" y="1270000"/>
                  </a:cubicBezTo>
                  <a:lnTo>
                    <a:pt x="10160" y="1270000"/>
                  </a:lnTo>
                  <a:cubicBezTo>
                    <a:pt x="7465" y="1270000"/>
                    <a:pt x="4881" y="1268930"/>
                    <a:pt x="2976" y="1267024"/>
                  </a:cubicBezTo>
                  <a:cubicBezTo>
                    <a:pt x="1070" y="1265119"/>
                    <a:pt x="0" y="1262535"/>
                    <a:pt x="0" y="1259840"/>
                  </a:cubicBezTo>
                  <a:lnTo>
                    <a:pt x="0" y="10160"/>
                  </a:lnTo>
                  <a:cubicBezTo>
                    <a:pt x="0" y="4549"/>
                    <a:pt x="4549" y="0"/>
                    <a:pt x="10160" y="0"/>
                  </a:cubicBezTo>
                  <a:close/>
                </a:path>
              </a:pathLst>
            </a:custGeom>
            <a:solidFill>
              <a:srgbClr val="DFCDE3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16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791700" y="4829175"/>
            <a:ext cx="619125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>
                <a:solidFill>
                  <a:srgbClr val="DFCDE3"/>
                </a:solidFill>
                <a:latin typeface="Lovelace"/>
                <a:ea typeface="Lovelace"/>
                <a:cs typeface="Lovelace"/>
                <a:sym typeface="Lovelace"/>
              </a:rPr>
              <a:t>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553700" y="4800600"/>
            <a:ext cx="592455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Sprint Review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525000" y="4600575"/>
            <a:ext cx="6858000" cy="952500"/>
            <a:chOff x="0" y="0"/>
            <a:chExt cx="9144000" cy="1270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9144000">
                  <a:moveTo>
                    <a:pt x="127000" y="0"/>
                  </a:moveTo>
                  <a:lnTo>
                    <a:pt x="9017000" y="0"/>
                  </a:lnTo>
                  <a:cubicBezTo>
                    <a:pt x="9087140" y="0"/>
                    <a:pt x="9144000" y="56860"/>
                    <a:pt x="9144000" y="127000"/>
                  </a:cubicBezTo>
                  <a:lnTo>
                    <a:pt x="9144000" y="1143000"/>
                  </a:lnTo>
                  <a:cubicBezTo>
                    <a:pt x="9144000" y="1213140"/>
                    <a:pt x="9087140" y="1270000"/>
                    <a:pt x="9017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DFCDE3">
                <a:alpha val="14902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144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905000" y="5810250"/>
            <a:ext cx="76200" cy="952500"/>
            <a:chOff x="0" y="0"/>
            <a:chExt cx="101600" cy="1270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16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01600">
                  <a:moveTo>
                    <a:pt x="10160" y="0"/>
                  </a:moveTo>
                  <a:lnTo>
                    <a:pt x="91440" y="0"/>
                  </a:lnTo>
                  <a:cubicBezTo>
                    <a:pt x="94135" y="0"/>
                    <a:pt x="96719" y="1070"/>
                    <a:pt x="98624" y="2976"/>
                  </a:cubicBezTo>
                  <a:cubicBezTo>
                    <a:pt x="100530" y="4881"/>
                    <a:pt x="101600" y="7465"/>
                    <a:pt x="101600" y="10160"/>
                  </a:cubicBezTo>
                  <a:lnTo>
                    <a:pt x="101600" y="1259840"/>
                  </a:lnTo>
                  <a:cubicBezTo>
                    <a:pt x="101600" y="1262535"/>
                    <a:pt x="100530" y="1265119"/>
                    <a:pt x="98624" y="1267024"/>
                  </a:cubicBezTo>
                  <a:cubicBezTo>
                    <a:pt x="96719" y="1268930"/>
                    <a:pt x="94135" y="1270000"/>
                    <a:pt x="91440" y="1270000"/>
                  </a:cubicBezTo>
                  <a:lnTo>
                    <a:pt x="10160" y="1270000"/>
                  </a:lnTo>
                  <a:cubicBezTo>
                    <a:pt x="7465" y="1270000"/>
                    <a:pt x="4881" y="1268930"/>
                    <a:pt x="2976" y="1267024"/>
                  </a:cubicBezTo>
                  <a:cubicBezTo>
                    <a:pt x="1070" y="1265119"/>
                    <a:pt x="0" y="1262535"/>
                    <a:pt x="0" y="1259840"/>
                  </a:cubicBezTo>
                  <a:lnTo>
                    <a:pt x="0" y="10160"/>
                  </a:lnTo>
                  <a:cubicBezTo>
                    <a:pt x="0" y="4549"/>
                    <a:pt x="4549" y="0"/>
                    <a:pt x="10160" y="0"/>
                  </a:cubicBezTo>
                  <a:close/>
                </a:path>
              </a:pathLst>
            </a:custGeom>
            <a:solidFill>
              <a:srgbClr val="EDCFD4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16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171700" y="6067425"/>
            <a:ext cx="766355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>
                <a:solidFill>
                  <a:srgbClr val="EDCFD4"/>
                </a:solidFill>
                <a:latin typeface="Lovelace"/>
                <a:ea typeface="Lovelace"/>
                <a:cs typeface="Lovelace"/>
                <a:sym typeface="Lovelace"/>
              </a:rPr>
              <a:t>05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924175" y="6038850"/>
            <a:ext cx="592455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Sprint Retrospective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905000" y="5810250"/>
            <a:ext cx="6858000" cy="952500"/>
            <a:chOff x="0" y="0"/>
            <a:chExt cx="9144000" cy="1270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9144000">
                  <a:moveTo>
                    <a:pt x="127000" y="0"/>
                  </a:moveTo>
                  <a:lnTo>
                    <a:pt x="9017000" y="0"/>
                  </a:lnTo>
                  <a:cubicBezTo>
                    <a:pt x="9087140" y="0"/>
                    <a:pt x="9144000" y="56860"/>
                    <a:pt x="9144000" y="127000"/>
                  </a:cubicBezTo>
                  <a:lnTo>
                    <a:pt x="9144000" y="1143000"/>
                  </a:lnTo>
                  <a:cubicBezTo>
                    <a:pt x="9144000" y="1213140"/>
                    <a:pt x="9087140" y="1270000"/>
                    <a:pt x="9017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DCFD4">
                <a:alpha val="14902"/>
              </a:srgbClr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144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525000" y="5810250"/>
            <a:ext cx="76200" cy="952500"/>
            <a:chOff x="0" y="0"/>
            <a:chExt cx="101600" cy="1270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16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01600">
                  <a:moveTo>
                    <a:pt x="10160" y="0"/>
                  </a:moveTo>
                  <a:lnTo>
                    <a:pt x="91440" y="0"/>
                  </a:lnTo>
                  <a:cubicBezTo>
                    <a:pt x="94135" y="0"/>
                    <a:pt x="96719" y="1070"/>
                    <a:pt x="98624" y="2976"/>
                  </a:cubicBezTo>
                  <a:cubicBezTo>
                    <a:pt x="100530" y="4881"/>
                    <a:pt x="101600" y="7465"/>
                    <a:pt x="101600" y="10160"/>
                  </a:cubicBezTo>
                  <a:lnTo>
                    <a:pt x="101600" y="1259840"/>
                  </a:lnTo>
                  <a:cubicBezTo>
                    <a:pt x="101600" y="1262535"/>
                    <a:pt x="100530" y="1265119"/>
                    <a:pt x="98624" y="1267024"/>
                  </a:cubicBezTo>
                  <a:cubicBezTo>
                    <a:pt x="96719" y="1268930"/>
                    <a:pt x="94135" y="1270000"/>
                    <a:pt x="91440" y="1270000"/>
                  </a:cubicBezTo>
                  <a:lnTo>
                    <a:pt x="10160" y="1270000"/>
                  </a:lnTo>
                  <a:cubicBezTo>
                    <a:pt x="7465" y="1270000"/>
                    <a:pt x="4881" y="1268930"/>
                    <a:pt x="2976" y="1267024"/>
                  </a:cubicBezTo>
                  <a:cubicBezTo>
                    <a:pt x="1070" y="1265119"/>
                    <a:pt x="0" y="1262535"/>
                    <a:pt x="0" y="1259840"/>
                  </a:cubicBezTo>
                  <a:lnTo>
                    <a:pt x="0" y="10160"/>
                  </a:lnTo>
                  <a:cubicBezTo>
                    <a:pt x="0" y="4549"/>
                    <a:pt x="4549" y="0"/>
                    <a:pt x="10160" y="0"/>
                  </a:cubicBezTo>
                  <a:close/>
                </a:path>
              </a:pathLst>
            </a:custGeom>
            <a:solidFill>
              <a:srgbClr val="A8AF9A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016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9791700" y="6067425"/>
            <a:ext cx="76200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>
                <a:solidFill>
                  <a:srgbClr val="A8AF9A"/>
                </a:solidFill>
                <a:latin typeface="Lovelace"/>
                <a:ea typeface="Lovelace"/>
                <a:cs typeface="Lovelace"/>
                <a:sym typeface="Lovelace"/>
              </a:rPr>
              <a:t>06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553700" y="6038850"/>
            <a:ext cx="592455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Incremento del Sprint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9525000" y="5805488"/>
            <a:ext cx="6858000" cy="952500"/>
            <a:chOff x="0" y="0"/>
            <a:chExt cx="9144000" cy="1270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4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9144000">
                  <a:moveTo>
                    <a:pt x="127000" y="0"/>
                  </a:moveTo>
                  <a:lnTo>
                    <a:pt x="9017000" y="0"/>
                  </a:lnTo>
                  <a:cubicBezTo>
                    <a:pt x="9087140" y="0"/>
                    <a:pt x="9144000" y="56860"/>
                    <a:pt x="9144000" y="127000"/>
                  </a:cubicBezTo>
                  <a:lnTo>
                    <a:pt x="9144000" y="1143000"/>
                  </a:lnTo>
                  <a:cubicBezTo>
                    <a:pt x="9144000" y="1213140"/>
                    <a:pt x="9087140" y="1270000"/>
                    <a:pt x="9017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A8AF9A">
                <a:alpha val="14902"/>
              </a:srgbClr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9144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905000" y="7048500"/>
            <a:ext cx="76200" cy="952500"/>
            <a:chOff x="0" y="0"/>
            <a:chExt cx="101600" cy="1270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16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01600">
                  <a:moveTo>
                    <a:pt x="10160" y="0"/>
                  </a:moveTo>
                  <a:lnTo>
                    <a:pt x="91440" y="0"/>
                  </a:lnTo>
                  <a:cubicBezTo>
                    <a:pt x="94135" y="0"/>
                    <a:pt x="96719" y="1070"/>
                    <a:pt x="98624" y="2976"/>
                  </a:cubicBezTo>
                  <a:cubicBezTo>
                    <a:pt x="100530" y="4881"/>
                    <a:pt x="101600" y="7465"/>
                    <a:pt x="101600" y="10160"/>
                  </a:cubicBezTo>
                  <a:lnTo>
                    <a:pt x="101600" y="1259840"/>
                  </a:lnTo>
                  <a:cubicBezTo>
                    <a:pt x="101600" y="1262535"/>
                    <a:pt x="100530" y="1265119"/>
                    <a:pt x="98624" y="1267024"/>
                  </a:cubicBezTo>
                  <a:cubicBezTo>
                    <a:pt x="96719" y="1268930"/>
                    <a:pt x="94135" y="1270000"/>
                    <a:pt x="91440" y="1270000"/>
                  </a:cubicBezTo>
                  <a:lnTo>
                    <a:pt x="10160" y="1270000"/>
                  </a:lnTo>
                  <a:cubicBezTo>
                    <a:pt x="7465" y="1270000"/>
                    <a:pt x="4881" y="1268930"/>
                    <a:pt x="2976" y="1267024"/>
                  </a:cubicBezTo>
                  <a:cubicBezTo>
                    <a:pt x="1070" y="1265119"/>
                    <a:pt x="0" y="1262535"/>
                    <a:pt x="0" y="1259840"/>
                  </a:cubicBezTo>
                  <a:lnTo>
                    <a:pt x="0" y="10160"/>
                  </a:lnTo>
                  <a:cubicBezTo>
                    <a:pt x="0" y="4549"/>
                    <a:pt x="4549" y="0"/>
                    <a:pt x="10160" y="0"/>
                  </a:cubicBezTo>
                  <a:close/>
                </a:path>
              </a:pathLst>
            </a:custGeom>
            <a:solidFill>
              <a:srgbClr val="E5E2B9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016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2171700" y="7305675"/>
            <a:ext cx="57150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>
                <a:solidFill>
                  <a:srgbClr val="E5E2B9"/>
                </a:solidFill>
                <a:latin typeface="Lovelace"/>
                <a:ea typeface="Lovelace"/>
                <a:cs typeface="Lovelace"/>
                <a:sym typeface="Lovelace"/>
              </a:rPr>
              <a:t>07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790825" y="7277100"/>
            <a:ext cx="592455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Burndown Chart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905000" y="7048500"/>
            <a:ext cx="6858000" cy="952500"/>
            <a:chOff x="0" y="0"/>
            <a:chExt cx="9144000" cy="1270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4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9144000">
                  <a:moveTo>
                    <a:pt x="127000" y="0"/>
                  </a:moveTo>
                  <a:lnTo>
                    <a:pt x="9017000" y="0"/>
                  </a:lnTo>
                  <a:cubicBezTo>
                    <a:pt x="9087140" y="0"/>
                    <a:pt x="9144000" y="56860"/>
                    <a:pt x="9144000" y="127000"/>
                  </a:cubicBezTo>
                  <a:lnTo>
                    <a:pt x="9144000" y="1143000"/>
                  </a:lnTo>
                  <a:cubicBezTo>
                    <a:pt x="9144000" y="1213140"/>
                    <a:pt x="9087140" y="1270000"/>
                    <a:pt x="9017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E5E2B9">
                <a:alpha val="14902"/>
              </a:srgbClr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144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525000" y="7048500"/>
            <a:ext cx="76200" cy="952500"/>
            <a:chOff x="0" y="0"/>
            <a:chExt cx="101600" cy="12700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16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01600">
                  <a:moveTo>
                    <a:pt x="10160" y="0"/>
                  </a:moveTo>
                  <a:lnTo>
                    <a:pt x="91440" y="0"/>
                  </a:lnTo>
                  <a:cubicBezTo>
                    <a:pt x="94135" y="0"/>
                    <a:pt x="96719" y="1070"/>
                    <a:pt x="98624" y="2976"/>
                  </a:cubicBezTo>
                  <a:cubicBezTo>
                    <a:pt x="100530" y="4881"/>
                    <a:pt x="101600" y="7465"/>
                    <a:pt x="101600" y="10160"/>
                  </a:cubicBezTo>
                  <a:lnTo>
                    <a:pt x="101600" y="1259840"/>
                  </a:lnTo>
                  <a:cubicBezTo>
                    <a:pt x="101600" y="1262535"/>
                    <a:pt x="100530" y="1265119"/>
                    <a:pt x="98624" y="1267024"/>
                  </a:cubicBezTo>
                  <a:cubicBezTo>
                    <a:pt x="96719" y="1268930"/>
                    <a:pt x="94135" y="1270000"/>
                    <a:pt x="91440" y="1270000"/>
                  </a:cubicBezTo>
                  <a:lnTo>
                    <a:pt x="10160" y="1270000"/>
                  </a:lnTo>
                  <a:cubicBezTo>
                    <a:pt x="7465" y="1270000"/>
                    <a:pt x="4881" y="1268930"/>
                    <a:pt x="2976" y="1267024"/>
                  </a:cubicBezTo>
                  <a:cubicBezTo>
                    <a:pt x="1070" y="1265119"/>
                    <a:pt x="0" y="1262535"/>
                    <a:pt x="0" y="1259840"/>
                  </a:cubicBezTo>
                  <a:lnTo>
                    <a:pt x="0" y="10160"/>
                  </a:lnTo>
                  <a:cubicBezTo>
                    <a:pt x="0" y="4549"/>
                    <a:pt x="4549" y="0"/>
                    <a:pt x="10160" y="0"/>
                  </a:cubicBezTo>
                  <a:close/>
                </a:path>
              </a:pathLst>
            </a:custGeom>
            <a:solidFill>
              <a:srgbClr val="DFCDE3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16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9791700" y="7305675"/>
            <a:ext cx="762000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600">
                <a:solidFill>
                  <a:srgbClr val="DFCDE3"/>
                </a:solidFill>
                <a:latin typeface="Lovelace"/>
                <a:ea typeface="Lovelace"/>
                <a:cs typeface="Lovelace"/>
                <a:sym typeface="Lovelace"/>
              </a:rPr>
              <a:t>08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553700" y="7277100"/>
            <a:ext cx="592455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Impediment log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9525000" y="7043738"/>
            <a:ext cx="6858000" cy="952500"/>
            <a:chOff x="0" y="0"/>
            <a:chExt cx="9144000" cy="12700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144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9144000">
                  <a:moveTo>
                    <a:pt x="127000" y="0"/>
                  </a:moveTo>
                  <a:lnTo>
                    <a:pt x="9017000" y="0"/>
                  </a:lnTo>
                  <a:cubicBezTo>
                    <a:pt x="9087140" y="0"/>
                    <a:pt x="9144000" y="56860"/>
                    <a:pt x="9144000" y="127000"/>
                  </a:cubicBezTo>
                  <a:lnTo>
                    <a:pt x="9144000" y="1143000"/>
                  </a:lnTo>
                  <a:cubicBezTo>
                    <a:pt x="9144000" y="1213140"/>
                    <a:pt x="9087140" y="1270000"/>
                    <a:pt x="9017000" y="1270000"/>
                  </a:cubicBezTo>
                  <a:lnTo>
                    <a:pt x="127000" y="1270000"/>
                  </a:lnTo>
                  <a:cubicBezTo>
                    <a:pt x="56860" y="1270000"/>
                    <a:pt x="0" y="1213140"/>
                    <a:pt x="0" y="11430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DFCDE3">
                <a:alpha val="14902"/>
              </a:srgbClr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9144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6717968" y="8848725"/>
            <a:ext cx="4261514" cy="7081065"/>
          </a:xfrm>
          <a:custGeom>
            <a:avLst/>
            <a:gdLst/>
            <a:ahLst/>
            <a:cxnLst/>
            <a:rect r="r" b="b" t="t" l="l"/>
            <a:pathLst>
              <a:path h="7081065" w="4261514">
                <a:moveTo>
                  <a:pt x="0" y="0"/>
                </a:moveTo>
                <a:lnTo>
                  <a:pt x="4261514" y="0"/>
                </a:lnTo>
                <a:lnTo>
                  <a:pt x="4261514" y="7081065"/>
                </a:lnTo>
                <a:lnTo>
                  <a:pt x="0" y="70810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8" id="68"/>
          <p:cNvSpPr/>
          <p:nvPr/>
        </p:nvSpPr>
        <p:spPr>
          <a:xfrm flipH="false" flipV="false" rot="-2700000">
            <a:off x="-424400" y="7592355"/>
            <a:ext cx="4658799" cy="5582439"/>
          </a:xfrm>
          <a:custGeom>
            <a:avLst/>
            <a:gdLst/>
            <a:ahLst/>
            <a:cxnLst/>
            <a:rect r="r" b="b" t="t" l="l"/>
            <a:pathLst>
              <a:path h="5582439" w="4658799">
                <a:moveTo>
                  <a:pt x="0" y="0"/>
                </a:moveTo>
                <a:lnTo>
                  <a:pt x="4658800" y="0"/>
                </a:lnTo>
                <a:lnTo>
                  <a:pt x="4658800" y="5582439"/>
                </a:lnTo>
                <a:lnTo>
                  <a:pt x="0" y="55824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1515088">
            <a:off x="14043434" y="8133565"/>
            <a:ext cx="4285120" cy="5936564"/>
          </a:xfrm>
          <a:custGeom>
            <a:avLst/>
            <a:gdLst/>
            <a:ahLst/>
            <a:cxnLst/>
            <a:rect r="r" b="b" t="t" l="l"/>
            <a:pathLst>
              <a:path h="5936564" w="4285120">
                <a:moveTo>
                  <a:pt x="0" y="0"/>
                </a:moveTo>
                <a:lnTo>
                  <a:pt x="4285120" y="0"/>
                </a:lnTo>
                <a:lnTo>
                  <a:pt x="4285120" y="5936564"/>
                </a:lnTo>
                <a:lnTo>
                  <a:pt x="0" y="59365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0" id="70"/>
          <p:cNvSpPr txBox="true"/>
          <p:nvPr/>
        </p:nvSpPr>
        <p:spPr>
          <a:xfrm rot="0">
            <a:off x="17335500" y="9725025"/>
            <a:ext cx="571500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3B3B3B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-140539" y="7605115"/>
            <a:ext cx="4658799" cy="5582439"/>
          </a:xfrm>
          <a:custGeom>
            <a:avLst/>
            <a:gdLst/>
            <a:ahLst/>
            <a:cxnLst/>
            <a:rect r="r" b="b" t="t" l="l"/>
            <a:pathLst>
              <a:path h="5582439" w="4658799">
                <a:moveTo>
                  <a:pt x="0" y="0"/>
                </a:moveTo>
                <a:lnTo>
                  <a:pt x="4658799" y="0"/>
                </a:lnTo>
                <a:lnTo>
                  <a:pt x="4658799" y="5582439"/>
                </a:lnTo>
                <a:lnTo>
                  <a:pt x="0" y="5582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515088">
            <a:off x="17110040" y="-1362149"/>
            <a:ext cx="4285120" cy="5936564"/>
          </a:xfrm>
          <a:custGeom>
            <a:avLst/>
            <a:gdLst/>
            <a:ahLst/>
            <a:cxnLst/>
            <a:rect r="r" b="b" t="t" l="l"/>
            <a:pathLst>
              <a:path h="5936564" w="4285120">
                <a:moveTo>
                  <a:pt x="0" y="0"/>
                </a:moveTo>
                <a:lnTo>
                  <a:pt x="4285120" y="0"/>
                </a:lnTo>
                <a:lnTo>
                  <a:pt x="4285120" y="5936564"/>
                </a:lnTo>
                <a:lnTo>
                  <a:pt x="0" y="5936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369738">
            <a:off x="16504798" y="3205010"/>
            <a:ext cx="5495603" cy="6556577"/>
          </a:xfrm>
          <a:custGeom>
            <a:avLst/>
            <a:gdLst/>
            <a:ahLst/>
            <a:cxnLst/>
            <a:rect r="r" b="b" t="t" l="l"/>
            <a:pathLst>
              <a:path h="6556577" w="5495603">
                <a:moveTo>
                  <a:pt x="0" y="0"/>
                </a:moveTo>
                <a:lnTo>
                  <a:pt x="5495604" y="0"/>
                </a:lnTo>
                <a:lnTo>
                  <a:pt x="5495604" y="6556577"/>
                </a:lnTo>
                <a:lnTo>
                  <a:pt x="0" y="65565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1589" y="4122350"/>
            <a:ext cx="265137" cy="265137"/>
          </a:xfrm>
          <a:custGeom>
            <a:avLst/>
            <a:gdLst/>
            <a:ahLst/>
            <a:cxnLst/>
            <a:rect r="r" b="b" t="t" l="l"/>
            <a:pathLst>
              <a:path h="265137" w="265137">
                <a:moveTo>
                  <a:pt x="0" y="0"/>
                </a:moveTo>
                <a:lnTo>
                  <a:pt x="265137" y="0"/>
                </a:lnTo>
                <a:lnTo>
                  <a:pt x="265137" y="265137"/>
                </a:lnTo>
                <a:lnTo>
                  <a:pt x="0" y="2651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52464" y="500082"/>
            <a:ext cx="651336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40"/>
              </a:lnSpc>
            </a:pPr>
            <a:r>
              <a:rPr lang="en-US" sz="6000" spc="-348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Definición de sprint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0" y="1393528"/>
            <a:ext cx="8033030" cy="3988157"/>
            <a:chOff x="0" y="0"/>
            <a:chExt cx="10710707" cy="5317543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0710707" cy="5210772"/>
              <a:chOff x="0" y="0"/>
              <a:chExt cx="3063932" cy="149060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063932" cy="1490607"/>
              </a:xfrm>
              <a:custGeom>
                <a:avLst/>
                <a:gdLst/>
                <a:ahLst/>
                <a:cxnLst/>
                <a:rect r="r" b="b" t="t" l="l"/>
                <a:pathLst>
                  <a:path h="1490607" w="3063932">
                    <a:moveTo>
                      <a:pt x="33940" y="0"/>
                    </a:moveTo>
                    <a:lnTo>
                      <a:pt x="3029992" y="0"/>
                    </a:lnTo>
                    <a:cubicBezTo>
                      <a:pt x="3048736" y="0"/>
                      <a:pt x="3063932" y="15196"/>
                      <a:pt x="3063932" y="33940"/>
                    </a:cubicBezTo>
                    <a:lnTo>
                      <a:pt x="3063932" y="1456667"/>
                    </a:lnTo>
                    <a:cubicBezTo>
                      <a:pt x="3063932" y="1475411"/>
                      <a:pt x="3048736" y="1490607"/>
                      <a:pt x="3029992" y="1490607"/>
                    </a:cubicBezTo>
                    <a:lnTo>
                      <a:pt x="33940" y="1490607"/>
                    </a:lnTo>
                    <a:cubicBezTo>
                      <a:pt x="15196" y="1490607"/>
                      <a:pt x="0" y="1475411"/>
                      <a:pt x="0" y="1456667"/>
                    </a:cubicBezTo>
                    <a:lnTo>
                      <a:pt x="0" y="33940"/>
                    </a:lnTo>
                    <a:cubicBezTo>
                      <a:pt x="0" y="15196"/>
                      <a:pt x="15196" y="0"/>
                      <a:pt x="33940" y="0"/>
                    </a:cubicBezTo>
                    <a:close/>
                  </a:path>
                </a:pathLst>
              </a:custGeom>
              <a:solidFill>
                <a:srgbClr val="EDCFD4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114300"/>
                <a:ext cx="3063932" cy="16049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24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106772"/>
              <a:ext cx="10710707" cy="5210772"/>
              <a:chOff x="0" y="0"/>
              <a:chExt cx="3063932" cy="149060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063932" cy="1490607"/>
              </a:xfrm>
              <a:custGeom>
                <a:avLst/>
                <a:gdLst/>
                <a:ahLst/>
                <a:cxnLst/>
                <a:rect r="r" b="b" t="t" l="l"/>
                <a:pathLst>
                  <a:path h="1490607" w="3063932">
                    <a:moveTo>
                      <a:pt x="33940" y="0"/>
                    </a:moveTo>
                    <a:lnTo>
                      <a:pt x="3029992" y="0"/>
                    </a:lnTo>
                    <a:cubicBezTo>
                      <a:pt x="3048736" y="0"/>
                      <a:pt x="3063932" y="15196"/>
                      <a:pt x="3063932" y="33940"/>
                    </a:cubicBezTo>
                    <a:lnTo>
                      <a:pt x="3063932" y="1456667"/>
                    </a:lnTo>
                    <a:cubicBezTo>
                      <a:pt x="3063932" y="1475411"/>
                      <a:pt x="3048736" y="1490607"/>
                      <a:pt x="3029992" y="1490607"/>
                    </a:cubicBezTo>
                    <a:lnTo>
                      <a:pt x="33940" y="1490607"/>
                    </a:lnTo>
                    <a:cubicBezTo>
                      <a:pt x="15196" y="1490607"/>
                      <a:pt x="0" y="1475411"/>
                      <a:pt x="0" y="1456667"/>
                    </a:cubicBezTo>
                    <a:lnTo>
                      <a:pt x="0" y="33940"/>
                    </a:lnTo>
                    <a:cubicBezTo>
                      <a:pt x="0" y="15196"/>
                      <a:pt x="15196" y="0"/>
                      <a:pt x="3394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114300"/>
                <a:ext cx="3063932" cy="16049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24"/>
                  </a:lnSpc>
                </a:pP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9865889" y="2634966"/>
            <a:ext cx="2191902" cy="473275"/>
            <a:chOff x="0" y="0"/>
            <a:chExt cx="577291" cy="1246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7291" cy="124648"/>
            </a:xfrm>
            <a:custGeom>
              <a:avLst/>
              <a:gdLst/>
              <a:ahLst/>
              <a:cxnLst/>
              <a:rect r="r" b="b" t="t" l="l"/>
              <a:pathLst>
                <a:path h="124648" w="577291">
                  <a:moveTo>
                    <a:pt x="56513" y="0"/>
                  </a:moveTo>
                  <a:lnTo>
                    <a:pt x="520778" y="0"/>
                  </a:lnTo>
                  <a:cubicBezTo>
                    <a:pt x="535766" y="0"/>
                    <a:pt x="550141" y="5954"/>
                    <a:pt x="560739" y="16552"/>
                  </a:cubicBezTo>
                  <a:cubicBezTo>
                    <a:pt x="571337" y="27150"/>
                    <a:pt x="577291" y="41525"/>
                    <a:pt x="577291" y="56513"/>
                  </a:cubicBezTo>
                  <a:lnTo>
                    <a:pt x="577291" y="68136"/>
                  </a:lnTo>
                  <a:cubicBezTo>
                    <a:pt x="577291" y="83124"/>
                    <a:pt x="571337" y="97498"/>
                    <a:pt x="560739" y="108096"/>
                  </a:cubicBezTo>
                  <a:cubicBezTo>
                    <a:pt x="550141" y="118694"/>
                    <a:pt x="535766" y="124648"/>
                    <a:pt x="520778" y="124648"/>
                  </a:cubicBezTo>
                  <a:lnTo>
                    <a:pt x="56513" y="124648"/>
                  </a:lnTo>
                  <a:cubicBezTo>
                    <a:pt x="41525" y="124648"/>
                    <a:pt x="27150" y="118694"/>
                    <a:pt x="16552" y="108096"/>
                  </a:cubicBezTo>
                  <a:cubicBezTo>
                    <a:pt x="5954" y="97498"/>
                    <a:pt x="0" y="83124"/>
                    <a:pt x="0" y="68136"/>
                  </a:cubicBezTo>
                  <a:lnTo>
                    <a:pt x="0" y="56513"/>
                  </a:lnTo>
                  <a:cubicBezTo>
                    <a:pt x="0" y="41525"/>
                    <a:pt x="5954" y="27150"/>
                    <a:pt x="16552" y="16552"/>
                  </a:cubicBezTo>
                  <a:cubicBezTo>
                    <a:pt x="27150" y="5954"/>
                    <a:pt x="41525" y="0"/>
                    <a:pt x="56513" y="0"/>
                  </a:cubicBezTo>
                  <a:close/>
                </a:path>
              </a:pathLst>
            </a:custGeom>
            <a:solidFill>
              <a:srgbClr val="EAD1D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77291" cy="16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HU-04 Fotografías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220885" y="2634966"/>
            <a:ext cx="2191902" cy="473275"/>
            <a:chOff x="0" y="0"/>
            <a:chExt cx="577291" cy="1246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7291" cy="124648"/>
            </a:xfrm>
            <a:custGeom>
              <a:avLst/>
              <a:gdLst/>
              <a:ahLst/>
              <a:cxnLst/>
              <a:rect r="r" b="b" t="t" l="l"/>
              <a:pathLst>
                <a:path h="124648" w="577291">
                  <a:moveTo>
                    <a:pt x="56513" y="0"/>
                  </a:moveTo>
                  <a:lnTo>
                    <a:pt x="520778" y="0"/>
                  </a:lnTo>
                  <a:cubicBezTo>
                    <a:pt x="535766" y="0"/>
                    <a:pt x="550141" y="5954"/>
                    <a:pt x="560739" y="16552"/>
                  </a:cubicBezTo>
                  <a:cubicBezTo>
                    <a:pt x="571337" y="27150"/>
                    <a:pt x="577291" y="41525"/>
                    <a:pt x="577291" y="56513"/>
                  </a:cubicBezTo>
                  <a:lnTo>
                    <a:pt x="577291" y="68136"/>
                  </a:lnTo>
                  <a:cubicBezTo>
                    <a:pt x="577291" y="83124"/>
                    <a:pt x="571337" y="97498"/>
                    <a:pt x="560739" y="108096"/>
                  </a:cubicBezTo>
                  <a:cubicBezTo>
                    <a:pt x="550141" y="118694"/>
                    <a:pt x="535766" y="124648"/>
                    <a:pt x="520778" y="124648"/>
                  </a:cubicBezTo>
                  <a:lnTo>
                    <a:pt x="56513" y="124648"/>
                  </a:lnTo>
                  <a:cubicBezTo>
                    <a:pt x="41525" y="124648"/>
                    <a:pt x="27150" y="118694"/>
                    <a:pt x="16552" y="108096"/>
                  </a:cubicBezTo>
                  <a:cubicBezTo>
                    <a:pt x="5954" y="97498"/>
                    <a:pt x="0" y="83124"/>
                    <a:pt x="0" y="68136"/>
                  </a:cubicBezTo>
                  <a:lnTo>
                    <a:pt x="0" y="56513"/>
                  </a:lnTo>
                  <a:cubicBezTo>
                    <a:pt x="0" y="41525"/>
                    <a:pt x="5954" y="27150"/>
                    <a:pt x="16552" y="16552"/>
                  </a:cubicBezTo>
                  <a:cubicBezTo>
                    <a:pt x="27150" y="5954"/>
                    <a:pt x="41525" y="0"/>
                    <a:pt x="56513" y="0"/>
                  </a:cubicBezTo>
                  <a:close/>
                </a:path>
              </a:pathLst>
            </a:custGeom>
            <a:solidFill>
              <a:srgbClr val="EAD1D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77291" cy="16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HU-05 Colecciones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865889" y="3289215"/>
            <a:ext cx="2730168" cy="473275"/>
            <a:chOff x="0" y="0"/>
            <a:chExt cx="719057" cy="1246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9057" cy="124648"/>
            </a:xfrm>
            <a:custGeom>
              <a:avLst/>
              <a:gdLst/>
              <a:ahLst/>
              <a:cxnLst/>
              <a:rect r="r" b="b" t="t" l="l"/>
              <a:pathLst>
                <a:path h="124648" w="719057">
                  <a:moveTo>
                    <a:pt x="45371" y="0"/>
                  </a:moveTo>
                  <a:lnTo>
                    <a:pt x="673686" y="0"/>
                  </a:lnTo>
                  <a:cubicBezTo>
                    <a:pt x="698743" y="0"/>
                    <a:pt x="719057" y="20313"/>
                    <a:pt x="719057" y="45371"/>
                  </a:cubicBezTo>
                  <a:lnTo>
                    <a:pt x="719057" y="79277"/>
                  </a:lnTo>
                  <a:cubicBezTo>
                    <a:pt x="719057" y="91311"/>
                    <a:pt x="714277" y="102851"/>
                    <a:pt x="705768" y="111360"/>
                  </a:cubicBezTo>
                  <a:cubicBezTo>
                    <a:pt x="697259" y="119868"/>
                    <a:pt x="685719" y="124648"/>
                    <a:pt x="673686" y="124648"/>
                  </a:cubicBezTo>
                  <a:lnTo>
                    <a:pt x="45371" y="124648"/>
                  </a:lnTo>
                  <a:cubicBezTo>
                    <a:pt x="20313" y="124648"/>
                    <a:pt x="0" y="104335"/>
                    <a:pt x="0" y="79277"/>
                  </a:cubicBezTo>
                  <a:lnTo>
                    <a:pt x="0" y="45371"/>
                  </a:lnTo>
                  <a:cubicBezTo>
                    <a:pt x="0" y="20313"/>
                    <a:pt x="20313" y="0"/>
                    <a:pt x="45371" y="0"/>
                  </a:cubicBezTo>
                  <a:close/>
                </a:path>
              </a:pathLst>
            </a:custGeom>
            <a:solidFill>
              <a:srgbClr val="EAD1DC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19057" cy="16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HU-10 Gestión actividades 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761547" y="3289215"/>
            <a:ext cx="1540170" cy="473275"/>
            <a:chOff x="0" y="0"/>
            <a:chExt cx="405641" cy="1246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5641" cy="124648"/>
            </a:xfrm>
            <a:custGeom>
              <a:avLst/>
              <a:gdLst/>
              <a:ahLst/>
              <a:cxnLst/>
              <a:rect r="r" b="b" t="t" l="l"/>
              <a:pathLst>
                <a:path h="124648" w="405641">
                  <a:moveTo>
                    <a:pt x="62324" y="0"/>
                  </a:moveTo>
                  <a:lnTo>
                    <a:pt x="343317" y="0"/>
                  </a:lnTo>
                  <a:cubicBezTo>
                    <a:pt x="359847" y="0"/>
                    <a:pt x="375699" y="6566"/>
                    <a:pt x="387387" y="18254"/>
                  </a:cubicBezTo>
                  <a:cubicBezTo>
                    <a:pt x="399075" y="29942"/>
                    <a:pt x="405641" y="45795"/>
                    <a:pt x="405641" y="62324"/>
                  </a:cubicBezTo>
                  <a:lnTo>
                    <a:pt x="405641" y="62324"/>
                  </a:lnTo>
                  <a:cubicBezTo>
                    <a:pt x="405641" y="96745"/>
                    <a:pt x="377738" y="124648"/>
                    <a:pt x="343317" y="124648"/>
                  </a:cubicBezTo>
                  <a:lnTo>
                    <a:pt x="62324" y="124648"/>
                  </a:lnTo>
                  <a:cubicBezTo>
                    <a:pt x="27904" y="124648"/>
                    <a:pt x="0" y="96745"/>
                    <a:pt x="0" y="62324"/>
                  </a:cubicBezTo>
                  <a:lnTo>
                    <a:pt x="0" y="62324"/>
                  </a:lnTo>
                  <a:cubicBezTo>
                    <a:pt x="0" y="27904"/>
                    <a:pt x="27904" y="0"/>
                    <a:pt x="62324" y="0"/>
                  </a:cubicBezTo>
                  <a:close/>
                </a:path>
              </a:pathLst>
            </a:custGeom>
            <a:solidFill>
              <a:srgbClr val="EAD1DC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05641" cy="16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HU-11 Cupos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9953000" y="4687723"/>
            <a:ext cx="265137" cy="265137"/>
          </a:xfrm>
          <a:custGeom>
            <a:avLst/>
            <a:gdLst/>
            <a:ahLst/>
            <a:cxnLst/>
            <a:rect r="r" b="b" t="t" l="l"/>
            <a:pathLst>
              <a:path h="265137" w="265137">
                <a:moveTo>
                  <a:pt x="0" y="0"/>
                </a:moveTo>
                <a:lnTo>
                  <a:pt x="265137" y="0"/>
                </a:lnTo>
                <a:lnTo>
                  <a:pt x="265137" y="265136"/>
                </a:lnTo>
                <a:lnTo>
                  <a:pt x="0" y="265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865889" y="1645528"/>
            <a:ext cx="1435436" cy="28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3B3B3B"/>
                </a:solidFill>
                <a:latin typeface="Lovelace Bold"/>
                <a:ea typeface="Lovelace Bold"/>
                <a:cs typeface="Lovelace Bold"/>
                <a:sym typeface="Lovelace Bold"/>
              </a:rPr>
              <a:t>SPRINT 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53000" y="2053321"/>
            <a:ext cx="618949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Administración, actividades y museo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445161" y="4528106"/>
            <a:ext cx="6611813" cy="67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3"/>
              </a:lnSpc>
            </a:pPr>
            <a:r>
              <a:rPr lang="en-US" sz="18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Á</a:t>
            </a:r>
            <a:r>
              <a:rPr lang="en-US" sz="18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rea administrativa funcional para gestionar actividades, contenidos y museo digital.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4574712" y="2614676"/>
            <a:ext cx="2334010" cy="473275"/>
            <a:chOff x="0" y="0"/>
            <a:chExt cx="614719" cy="12464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14719" cy="124648"/>
            </a:xfrm>
            <a:custGeom>
              <a:avLst/>
              <a:gdLst/>
              <a:ahLst/>
              <a:cxnLst/>
              <a:rect r="r" b="b" t="t" l="l"/>
              <a:pathLst>
                <a:path h="124648" w="614719">
                  <a:moveTo>
                    <a:pt x="53072" y="0"/>
                  </a:moveTo>
                  <a:lnTo>
                    <a:pt x="561647" y="0"/>
                  </a:lnTo>
                  <a:cubicBezTo>
                    <a:pt x="590958" y="0"/>
                    <a:pt x="614719" y="23761"/>
                    <a:pt x="614719" y="53072"/>
                  </a:cubicBezTo>
                  <a:lnTo>
                    <a:pt x="614719" y="71576"/>
                  </a:lnTo>
                  <a:cubicBezTo>
                    <a:pt x="614719" y="85652"/>
                    <a:pt x="609127" y="99151"/>
                    <a:pt x="599174" y="109104"/>
                  </a:cubicBezTo>
                  <a:cubicBezTo>
                    <a:pt x="589221" y="119057"/>
                    <a:pt x="575722" y="124648"/>
                    <a:pt x="561647" y="124648"/>
                  </a:cubicBezTo>
                  <a:lnTo>
                    <a:pt x="53072" y="124648"/>
                  </a:lnTo>
                  <a:cubicBezTo>
                    <a:pt x="23761" y="124648"/>
                    <a:pt x="0" y="100887"/>
                    <a:pt x="0" y="71576"/>
                  </a:cubicBezTo>
                  <a:lnTo>
                    <a:pt x="0" y="53072"/>
                  </a:lnTo>
                  <a:cubicBezTo>
                    <a:pt x="0" y="23761"/>
                    <a:pt x="23761" y="0"/>
                    <a:pt x="53072" y="0"/>
                  </a:cubicBezTo>
                  <a:close/>
                </a:path>
              </a:pathLst>
            </a:custGeom>
            <a:solidFill>
              <a:srgbClr val="EAD1DC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14719" cy="16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HU-06 Ficha histórica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574712" y="3289215"/>
            <a:ext cx="1729711" cy="473275"/>
            <a:chOff x="0" y="0"/>
            <a:chExt cx="455562" cy="12464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5562" cy="124648"/>
            </a:xfrm>
            <a:custGeom>
              <a:avLst/>
              <a:gdLst/>
              <a:ahLst/>
              <a:cxnLst/>
              <a:rect r="r" b="b" t="t" l="l"/>
              <a:pathLst>
                <a:path h="124648" w="455562">
                  <a:moveTo>
                    <a:pt x="62324" y="0"/>
                  </a:moveTo>
                  <a:lnTo>
                    <a:pt x="393238" y="0"/>
                  </a:lnTo>
                  <a:cubicBezTo>
                    <a:pt x="427658" y="0"/>
                    <a:pt x="455562" y="27904"/>
                    <a:pt x="455562" y="62324"/>
                  </a:cubicBezTo>
                  <a:lnTo>
                    <a:pt x="455562" y="62324"/>
                  </a:lnTo>
                  <a:cubicBezTo>
                    <a:pt x="455562" y="78854"/>
                    <a:pt x="448996" y="94706"/>
                    <a:pt x="437308" y="106394"/>
                  </a:cubicBezTo>
                  <a:cubicBezTo>
                    <a:pt x="425619" y="118082"/>
                    <a:pt x="409767" y="124648"/>
                    <a:pt x="393238" y="124648"/>
                  </a:cubicBezTo>
                  <a:lnTo>
                    <a:pt x="62324" y="124648"/>
                  </a:lnTo>
                  <a:cubicBezTo>
                    <a:pt x="27904" y="124648"/>
                    <a:pt x="0" y="96745"/>
                    <a:pt x="0" y="62324"/>
                  </a:cubicBezTo>
                  <a:lnTo>
                    <a:pt x="0" y="62324"/>
                  </a:lnTo>
                  <a:cubicBezTo>
                    <a:pt x="0" y="27904"/>
                    <a:pt x="27904" y="0"/>
                    <a:pt x="62324" y="0"/>
                  </a:cubicBezTo>
                  <a:close/>
                </a:path>
              </a:pathLst>
            </a:custGeom>
            <a:solidFill>
              <a:srgbClr val="EAD1DC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55562" cy="16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HU-16 Login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865889" y="3943465"/>
            <a:ext cx="1966705" cy="473275"/>
            <a:chOff x="0" y="0"/>
            <a:chExt cx="517980" cy="1246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7980" cy="124648"/>
            </a:xfrm>
            <a:custGeom>
              <a:avLst/>
              <a:gdLst/>
              <a:ahLst/>
              <a:cxnLst/>
              <a:rect r="r" b="b" t="t" l="l"/>
              <a:pathLst>
                <a:path h="124648" w="517980">
                  <a:moveTo>
                    <a:pt x="62324" y="0"/>
                  </a:moveTo>
                  <a:lnTo>
                    <a:pt x="455656" y="0"/>
                  </a:lnTo>
                  <a:cubicBezTo>
                    <a:pt x="472185" y="0"/>
                    <a:pt x="488038" y="6566"/>
                    <a:pt x="499726" y="18254"/>
                  </a:cubicBezTo>
                  <a:cubicBezTo>
                    <a:pt x="511414" y="29942"/>
                    <a:pt x="517980" y="45795"/>
                    <a:pt x="517980" y="62324"/>
                  </a:cubicBezTo>
                  <a:lnTo>
                    <a:pt x="517980" y="62324"/>
                  </a:lnTo>
                  <a:cubicBezTo>
                    <a:pt x="517980" y="96745"/>
                    <a:pt x="490076" y="124648"/>
                    <a:pt x="455656" y="124648"/>
                  </a:cubicBezTo>
                  <a:lnTo>
                    <a:pt x="62324" y="124648"/>
                  </a:lnTo>
                  <a:cubicBezTo>
                    <a:pt x="27904" y="124648"/>
                    <a:pt x="0" y="96745"/>
                    <a:pt x="0" y="62324"/>
                  </a:cubicBezTo>
                  <a:lnTo>
                    <a:pt x="0" y="62324"/>
                  </a:lnTo>
                  <a:cubicBezTo>
                    <a:pt x="0" y="27904"/>
                    <a:pt x="27904" y="0"/>
                    <a:pt x="62324" y="0"/>
                  </a:cubicBezTo>
                  <a:close/>
                </a:path>
              </a:pathLst>
            </a:custGeom>
            <a:solidFill>
              <a:srgbClr val="EAD1DC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517980" cy="16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HU-17 Contenidos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064397" y="3943465"/>
            <a:ext cx="1966705" cy="473275"/>
            <a:chOff x="0" y="0"/>
            <a:chExt cx="517980" cy="12464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17980" cy="124648"/>
            </a:xfrm>
            <a:custGeom>
              <a:avLst/>
              <a:gdLst/>
              <a:ahLst/>
              <a:cxnLst/>
              <a:rect r="r" b="b" t="t" l="l"/>
              <a:pathLst>
                <a:path h="124648" w="517980">
                  <a:moveTo>
                    <a:pt x="62324" y="0"/>
                  </a:moveTo>
                  <a:lnTo>
                    <a:pt x="455656" y="0"/>
                  </a:lnTo>
                  <a:cubicBezTo>
                    <a:pt x="472185" y="0"/>
                    <a:pt x="488038" y="6566"/>
                    <a:pt x="499726" y="18254"/>
                  </a:cubicBezTo>
                  <a:cubicBezTo>
                    <a:pt x="511414" y="29942"/>
                    <a:pt x="517980" y="45795"/>
                    <a:pt x="517980" y="62324"/>
                  </a:cubicBezTo>
                  <a:lnTo>
                    <a:pt x="517980" y="62324"/>
                  </a:lnTo>
                  <a:cubicBezTo>
                    <a:pt x="517980" y="96745"/>
                    <a:pt x="490076" y="124648"/>
                    <a:pt x="455656" y="124648"/>
                  </a:cubicBezTo>
                  <a:lnTo>
                    <a:pt x="62324" y="124648"/>
                  </a:lnTo>
                  <a:cubicBezTo>
                    <a:pt x="27904" y="124648"/>
                    <a:pt x="0" y="96745"/>
                    <a:pt x="0" y="62324"/>
                  </a:cubicBezTo>
                  <a:lnTo>
                    <a:pt x="0" y="62324"/>
                  </a:lnTo>
                  <a:cubicBezTo>
                    <a:pt x="0" y="27904"/>
                    <a:pt x="27904" y="0"/>
                    <a:pt x="62324" y="0"/>
                  </a:cubicBezTo>
                  <a:close/>
                </a:path>
              </a:pathLst>
            </a:custGeom>
            <a:solidFill>
              <a:srgbClr val="EAD1DC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517980" cy="16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HU-18 Usuarios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68045" y="1393528"/>
            <a:ext cx="8033030" cy="3988157"/>
            <a:chOff x="0" y="0"/>
            <a:chExt cx="10710707" cy="5317543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10710707" cy="5210772"/>
              <a:chOff x="0" y="0"/>
              <a:chExt cx="3063932" cy="1490607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3063932" cy="1490607"/>
              </a:xfrm>
              <a:custGeom>
                <a:avLst/>
                <a:gdLst/>
                <a:ahLst/>
                <a:cxnLst/>
                <a:rect r="r" b="b" t="t" l="l"/>
                <a:pathLst>
                  <a:path h="1490607" w="3063932">
                    <a:moveTo>
                      <a:pt x="33940" y="0"/>
                    </a:moveTo>
                    <a:lnTo>
                      <a:pt x="3029992" y="0"/>
                    </a:lnTo>
                    <a:cubicBezTo>
                      <a:pt x="3048736" y="0"/>
                      <a:pt x="3063932" y="15196"/>
                      <a:pt x="3063932" y="33940"/>
                    </a:cubicBezTo>
                    <a:lnTo>
                      <a:pt x="3063932" y="1456667"/>
                    </a:lnTo>
                    <a:cubicBezTo>
                      <a:pt x="3063932" y="1475411"/>
                      <a:pt x="3048736" y="1490607"/>
                      <a:pt x="3029992" y="1490607"/>
                    </a:cubicBezTo>
                    <a:lnTo>
                      <a:pt x="33940" y="1490607"/>
                    </a:lnTo>
                    <a:cubicBezTo>
                      <a:pt x="15196" y="1490607"/>
                      <a:pt x="0" y="1475411"/>
                      <a:pt x="0" y="1456667"/>
                    </a:cubicBezTo>
                    <a:lnTo>
                      <a:pt x="0" y="33940"/>
                    </a:lnTo>
                    <a:cubicBezTo>
                      <a:pt x="0" y="15196"/>
                      <a:pt x="15196" y="0"/>
                      <a:pt x="33940" y="0"/>
                    </a:cubicBezTo>
                    <a:close/>
                  </a:path>
                </a:pathLst>
              </a:custGeom>
              <a:solidFill>
                <a:srgbClr val="EDCFD4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114300"/>
                <a:ext cx="3063932" cy="16049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24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106772"/>
              <a:ext cx="10710707" cy="5210772"/>
              <a:chOff x="0" y="0"/>
              <a:chExt cx="3063932" cy="1490607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3063932" cy="1490607"/>
              </a:xfrm>
              <a:custGeom>
                <a:avLst/>
                <a:gdLst/>
                <a:ahLst/>
                <a:cxnLst/>
                <a:rect r="r" b="b" t="t" l="l"/>
                <a:pathLst>
                  <a:path h="1490607" w="3063932">
                    <a:moveTo>
                      <a:pt x="33940" y="0"/>
                    </a:moveTo>
                    <a:lnTo>
                      <a:pt x="3029992" y="0"/>
                    </a:lnTo>
                    <a:cubicBezTo>
                      <a:pt x="3048736" y="0"/>
                      <a:pt x="3063932" y="15196"/>
                      <a:pt x="3063932" y="33940"/>
                    </a:cubicBezTo>
                    <a:lnTo>
                      <a:pt x="3063932" y="1456667"/>
                    </a:lnTo>
                    <a:cubicBezTo>
                      <a:pt x="3063932" y="1475411"/>
                      <a:pt x="3048736" y="1490607"/>
                      <a:pt x="3029992" y="1490607"/>
                    </a:cubicBezTo>
                    <a:lnTo>
                      <a:pt x="33940" y="1490607"/>
                    </a:lnTo>
                    <a:cubicBezTo>
                      <a:pt x="15196" y="1490607"/>
                      <a:pt x="0" y="1475411"/>
                      <a:pt x="0" y="1456667"/>
                    </a:cubicBezTo>
                    <a:lnTo>
                      <a:pt x="0" y="33940"/>
                    </a:lnTo>
                    <a:cubicBezTo>
                      <a:pt x="0" y="15196"/>
                      <a:pt x="15196" y="0"/>
                      <a:pt x="3394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114300"/>
                <a:ext cx="3063932" cy="16049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24"/>
                  </a:lnSpc>
                </a:pPr>
              </a:p>
            </p:txBody>
          </p:sp>
        </p:grpSp>
      </p:grpSp>
      <p:grpSp>
        <p:nvGrpSpPr>
          <p:cNvPr name="Group 49" id="49"/>
          <p:cNvGrpSpPr/>
          <p:nvPr/>
        </p:nvGrpSpPr>
        <p:grpSpPr>
          <a:xfrm rot="0">
            <a:off x="941589" y="2691496"/>
            <a:ext cx="2191902" cy="473275"/>
            <a:chOff x="0" y="0"/>
            <a:chExt cx="577291" cy="12464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77291" cy="124648"/>
            </a:xfrm>
            <a:custGeom>
              <a:avLst/>
              <a:gdLst/>
              <a:ahLst/>
              <a:cxnLst/>
              <a:rect r="r" b="b" t="t" l="l"/>
              <a:pathLst>
                <a:path h="124648" w="577291">
                  <a:moveTo>
                    <a:pt x="56513" y="0"/>
                  </a:moveTo>
                  <a:lnTo>
                    <a:pt x="520778" y="0"/>
                  </a:lnTo>
                  <a:cubicBezTo>
                    <a:pt x="535766" y="0"/>
                    <a:pt x="550141" y="5954"/>
                    <a:pt x="560739" y="16552"/>
                  </a:cubicBezTo>
                  <a:cubicBezTo>
                    <a:pt x="571337" y="27150"/>
                    <a:pt x="577291" y="41525"/>
                    <a:pt x="577291" y="56513"/>
                  </a:cubicBezTo>
                  <a:lnTo>
                    <a:pt x="577291" y="68136"/>
                  </a:lnTo>
                  <a:cubicBezTo>
                    <a:pt x="577291" y="83124"/>
                    <a:pt x="571337" y="97498"/>
                    <a:pt x="560739" y="108096"/>
                  </a:cubicBezTo>
                  <a:cubicBezTo>
                    <a:pt x="550141" y="118694"/>
                    <a:pt x="535766" y="124648"/>
                    <a:pt x="520778" y="124648"/>
                  </a:cubicBezTo>
                  <a:lnTo>
                    <a:pt x="56513" y="124648"/>
                  </a:lnTo>
                  <a:cubicBezTo>
                    <a:pt x="41525" y="124648"/>
                    <a:pt x="27150" y="118694"/>
                    <a:pt x="16552" y="108096"/>
                  </a:cubicBezTo>
                  <a:cubicBezTo>
                    <a:pt x="5954" y="97498"/>
                    <a:pt x="0" y="83124"/>
                    <a:pt x="0" y="68136"/>
                  </a:cubicBezTo>
                  <a:lnTo>
                    <a:pt x="0" y="56513"/>
                  </a:lnTo>
                  <a:cubicBezTo>
                    <a:pt x="0" y="41525"/>
                    <a:pt x="5954" y="27150"/>
                    <a:pt x="16552" y="16552"/>
                  </a:cubicBezTo>
                  <a:cubicBezTo>
                    <a:pt x="27150" y="5954"/>
                    <a:pt x="41525" y="0"/>
                    <a:pt x="56513" y="0"/>
                  </a:cubicBezTo>
                  <a:close/>
                </a:path>
              </a:pathLst>
            </a:custGeom>
            <a:solidFill>
              <a:srgbClr val="EAD1DC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577291" cy="16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HU-01 Información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3296585" y="2691496"/>
            <a:ext cx="2191902" cy="473275"/>
            <a:chOff x="0" y="0"/>
            <a:chExt cx="577291" cy="1246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77291" cy="124648"/>
            </a:xfrm>
            <a:custGeom>
              <a:avLst/>
              <a:gdLst/>
              <a:ahLst/>
              <a:cxnLst/>
              <a:rect r="r" b="b" t="t" l="l"/>
              <a:pathLst>
                <a:path h="124648" w="577291">
                  <a:moveTo>
                    <a:pt x="56513" y="0"/>
                  </a:moveTo>
                  <a:lnTo>
                    <a:pt x="520778" y="0"/>
                  </a:lnTo>
                  <a:cubicBezTo>
                    <a:pt x="535766" y="0"/>
                    <a:pt x="550141" y="5954"/>
                    <a:pt x="560739" y="16552"/>
                  </a:cubicBezTo>
                  <a:cubicBezTo>
                    <a:pt x="571337" y="27150"/>
                    <a:pt x="577291" y="41525"/>
                    <a:pt x="577291" y="56513"/>
                  </a:cubicBezTo>
                  <a:lnTo>
                    <a:pt x="577291" y="68136"/>
                  </a:lnTo>
                  <a:cubicBezTo>
                    <a:pt x="577291" y="83124"/>
                    <a:pt x="571337" y="97498"/>
                    <a:pt x="560739" y="108096"/>
                  </a:cubicBezTo>
                  <a:cubicBezTo>
                    <a:pt x="550141" y="118694"/>
                    <a:pt x="535766" y="124648"/>
                    <a:pt x="520778" y="124648"/>
                  </a:cubicBezTo>
                  <a:lnTo>
                    <a:pt x="56513" y="124648"/>
                  </a:lnTo>
                  <a:cubicBezTo>
                    <a:pt x="41525" y="124648"/>
                    <a:pt x="27150" y="118694"/>
                    <a:pt x="16552" y="108096"/>
                  </a:cubicBezTo>
                  <a:cubicBezTo>
                    <a:pt x="5954" y="97498"/>
                    <a:pt x="0" y="83124"/>
                    <a:pt x="0" y="68136"/>
                  </a:cubicBezTo>
                  <a:lnTo>
                    <a:pt x="0" y="56513"/>
                  </a:lnTo>
                  <a:cubicBezTo>
                    <a:pt x="0" y="41525"/>
                    <a:pt x="5954" y="27150"/>
                    <a:pt x="16552" y="16552"/>
                  </a:cubicBezTo>
                  <a:cubicBezTo>
                    <a:pt x="27150" y="5954"/>
                    <a:pt x="41525" y="0"/>
                    <a:pt x="56513" y="0"/>
                  </a:cubicBezTo>
                  <a:close/>
                </a:path>
              </a:pathLst>
            </a:custGeom>
            <a:solidFill>
              <a:srgbClr val="EAD1DC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577291" cy="16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HU-02 Noticias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650412" y="2691496"/>
            <a:ext cx="2191902" cy="473275"/>
            <a:chOff x="0" y="0"/>
            <a:chExt cx="577291" cy="12464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77291" cy="124648"/>
            </a:xfrm>
            <a:custGeom>
              <a:avLst/>
              <a:gdLst/>
              <a:ahLst/>
              <a:cxnLst/>
              <a:rect r="r" b="b" t="t" l="l"/>
              <a:pathLst>
                <a:path h="124648" w="577291">
                  <a:moveTo>
                    <a:pt x="56513" y="0"/>
                  </a:moveTo>
                  <a:lnTo>
                    <a:pt x="520778" y="0"/>
                  </a:lnTo>
                  <a:cubicBezTo>
                    <a:pt x="535766" y="0"/>
                    <a:pt x="550141" y="5954"/>
                    <a:pt x="560739" y="16552"/>
                  </a:cubicBezTo>
                  <a:cubicBezTo>
                    <a:pt x="571337" y="27150"/>
                    <a:pt x="577291" y="41525"/>
                    <a:pt x="577291" y="56513"/>
                  </a:cubicBezTo>
                  <a:lnTo>
                    <a:pt x="577291" y="68136"/>
                  </a:lnTo>
                  <a:cubicBezTo>
                    <a:pt x="577291" y="83124"/>
                    <a:pt x="571337" y="97498"/>
                    <a:pt x="560739" y="108096"/>
                  </a:cubicBezTo>
                  <a:cubicBezTo>
                    <a:pt x="550141" y="118694"/>
                    <a:pt x="535766" y="124648"/>
                    <a:pt x="520778" y="124648"/>
                  </a:cubicBezTo>
                  <a:lnTo>
                    <a:pt x="56513" y="124648"/>
                  </a:lnTo>
                  <a:cubicBezTo>
                    <a:pt x="41525" y="124648"/>
                    <a:pt x="27150" y="118694"/>
                    <a:pt x="16552" y="108096"/>
                  </a:cubicBezTo>
                  <a:cubicBezTo>
                    <a:pt x="5954" y="97498"/>
                    <a:pt x="0" y="83124"/>
                    <a:pt x="0" y="68136"/>
                  </a:cubicBezTo>
                  <a:lnTo>
                    <a:pt x="0" y="56513"/>
                  </a:lnTo>
                  <a:cubicBezTo>
                    <a:pt x="0" y="41525"/>
                    <a:pt x="5954" y="27150"/>
                    <a:pt x="16552" y="16552"/>
                  </a:cubicBezTo>
                  <a:cubicBezTo>
                    <a:pt x="27150" y="5954"/>
                    <a:pt x="41525" y="0"/>
                    <a:pt x="56513" y="0"/>
                  </a:cubicBezTo>
                  <a:close/>
                </a:path>
              </a:pathLst>
            </a:custGeom>
            <a:solidFill>
              <a:srgbClr val="EAD1DC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577291" cy="16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HU-03 Patrimonio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41589" y="3307645"/>
            <a:ext cx="2191902" cy="473275"/>
            <a:chOff x="0" y="0"/>
            <a:chExt cx="577291" cy="12464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77291" cy="124648"/>
            </a:xfrm>
            <a:custGeom>
              <a:avLst/>
              <a:gdLst/>
              <a:ahLst/>
              <a:cxnLst/>
              <a:rect r="r" b="b" t="t" l="l"/>
              <a:pathLst>
                <a:path h="124648" w="577291">
                  <a:moveTo>
                    <a:pt x="56513" y="0"/>
                  </a:moveTo>
                  <a:lnTo>
                    <a:pt x="520778" y="0"/>
                  </a:lnTo>
                  <a:cubicBezTo>
                    <a:pt x="535766" y="0"/>
                    <a:pt x="550141" y="5954"/>
                    <a:pt x="560739" y="16552"/>
                  </a:cubicBezTo>
                  <a:cubicBezTo>
                    <a:pt x="571337" y="27150"/>
                    <a:pt x="577291" y="41525"/>
                    <a:pt x="577291" y="56513"/>
                  </a:cubicBezTo>
                  <a:lnTo>
                    <a:pt x="577291" y="68136"/>
                  </a:lnTo>
                  <a:cubicBezTo>
                    <a:pt x="577291" y="83124"/>
                    <a:pt x="571337" y="97498"/>
                    <a:pt x="560739" y="108096"/>
                  </a:cubicBezTo>
                  <a:cubicBezTo>
                    <a:pt x="550141" y="118694"/>
                    <a:pt x="535766" y="124648"/>
                    <a:pt x="520778" y="124648"/>
                  </a:cubicBezTo>
                  <a:lnTo>
                    <a:pt x="56513" y="124648"/>
                  </a:lnTo>
                  <a:cubicBezTo>
                    <a:pt x="41525" y="124648"/>
                    <a:pt x="27150" y="118694"/>
                    <a:pt x="16552" y="108096"/>
                  </a:cubicBezTo>
                  <a:cubicBezTo>
                    <a:pt x="5954" y="97498"/>
                    <a:pt x="0" y="83124"/>
                    <a:pt x="0" y="68136"/>
                  </a:cubicBezTo>
                  <a:lnTo>
                    <a:pt x="0" y="56513"/>
                  </a:lnTo>
                  <a:cubicBezTo>
                    <a:pt x="0" y="41525"/>
                    <a:pt x="5954" y="27150"/>
                    <a:pt x="16552" y="16552"/>
                  </a:cubicBezTo>
                  <a:cubicBezTo>
                    <a:pt x="27150" y="5954"/>
                    <a:pt x="41525" y="0"/>
                    <a:pt x="56513" y="0"/>
                  </a:cubicBezTo>
                  <a:close/>
                </a:path>
              </a:pathLst>
            </a:custGeom>
            <a:solidFill>
              <a:srgbClr val="EAD1DC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577291" cy="16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HU-07 Actividades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3296585" y="3317170"/>
            <a:ext cx="2191902" cy="473275"/>
            <a:chOff x="0" y="0"/>
            <a:chExt cx="577291" cy="12464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77291" cy="124648"/>
            </a:xfrm>
            <a:custGeom>
              <a:avLst/>
              <a:gdLst/>
              <a:ahLst/>
              <a:cxnLst/>
              <a:rect r="r" b="b" t="t" l="l"/>
              <a:pathLst>
                <a:path h="124648" w="577291">
                  <a:moveTo>
                    <a:pt x="56513" y="0"/>
                  </a:moveTo>
                  <a:lnTo>
                    <a:pt x="520778" y="0"/>
                  </a:lnTo>
                  <a:cubicBezTo>
                    <a:pt x="535766" y="0"/>
                    <a:pt x="550141" y="5954"/>
                    <a:pt x="560739" y="16552"/>
                  </a:cubicBezTo>
                  <a:cubicBezTo>
                    <a:pt x="571337" y="27150"/>
                    <a:pt x="577291" y="41525"/>
                    <a:pt x="577291" y="56513"/>
                  </a:cubicBezTo>
                  <a:lnTo>
                    <a:pt x="577291" y="68136"/>
                  </a:lnTo>
                  <a:cubicBezTo>
                    <a:pt x="577291" y="83124"/>
                    <a:pt x="571337" y="97498"/>
                    <a:pt x="560739" y="108096"/>
                  </a:cubicBezTo>
                  <a:cubicBezTo>
                    <a:pt x="550141" y="118694"/>
                    <a:pt x="535766" y="124648"/>
                    <a:pt x="520778" y="124648"/>
                  </a:cubicBezTo>
                  <a:lnTo>
                    <a:pt x="56513" y="124648"/>
                  </a:lnTo>
                  <a:cubicBezTo>
                    <a:pt x="41525" y="124648"/>
                    <a:pt x="27150" y="118694"/>
                    <a:pt x="16552" y="108096"/>
                  </a:cubicBezTo>
                  <a:cubicBezTo>
                    <a:pt x="5954" y="97498"/>
                    <a:pt x="0" y="83124"/>
                    <a:pt x="0" y="68136"/>
                  </a:cubicBezTo>
                  <a:lnTo>
                    <a:pt x="0" y="56513"/>
                  </a:lnTo>
                  <a:cubicBezTo>
                    <a:pt x="0" y="41525"/>
                    <a:pt x="5954" y="27150"/>
                    <a:pt x="16552" y="16552"/>
                  </a:cubicBezTo>
                  <a:cubicBezTo>
                    <a:pt x="27150" y="5954"/>
                    <a:pt x="41525" y="0"/>
                    <a:pt x="56513" y="0"/>
                  </a:cubicBezTo>
                  <a:close/>
                </a:path>
              </a:pathLst>
            </a:custGeom>
            <a:solidFill>
              <a:srgbClr val="EAD1DC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577291" cy="16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HU-08 Detalle act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650412" y="3317170"/>
            <a:ext cx="2191902" cy="473275"/>
            <a:chOff x="0" y="0"/>
            <a:chExt cx="577291" cy="12464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77291" cy="124648"/>
            </a:xfrm>
            <a:custGeom>
              <a:avLst/>
              <a:gdLst/>
              <a:ahLst/>
              <a:cxnLst/>
              <a:rect r="r" b="b" t="t" l="l"/>
              <a:pathLst>
                <a:path h="124648" w="577291">
                  <a:moveTo>
                    <a:pt x="56513" y="0"/>
                  </a:moveTo>
                  <a:lnTo>
                    <a:pt x="520778" y="0"/>
                  </a:lnTo>
                  <a:cubicBezTo>
                    <a:pt x="535766" y="0"/>
                    <a:pt x="550141" y="5954"/>
                    <a:pt x="560739" y="16552"/>
                  </a:cubicBezTo>
                  <a:cubicBezTo>
                    <a:pt x="571337" y="27150"/>
                    <a:pt x="577291" y="41525"/>
                    <a:pt x="577291" y="56513"/>
                  </a:cubicBezTo>
                  <a:lnTo>
                    <a:pt x="577291" y="68136"/>
                  </a:lnTo>
                  <a:cubicBezTo>
                    <a:pt x="577291" y="83124"/>
                    <a:pt x="571337" y="97498"/>
                    <a:pt x="560739" y="108096"/>
                  </a:cubicBezTo>
                  <a:cubicBezTo>
                    <a:pt x="550141" y="118694"/>
                    <a:pt x="535766" y="124648"/>
                    <a:pt x="520778" y="124648"/>
                  </a:cubicBezTo>
                  <a:lnTo>
                    <a:pt x="56513" y="124648"/>
                  </a:lnTo>
                  <a:cubicBezTo>
                    <a:pt x="41525" y="124648"/>
                    <a:pt x="27150" y="118694"/>
                    <a:pt x="16552" y="108096"/>
                  </a:cubicBezTo>
                  <a:cubicBezTo>
                    <a:pt x="5954" y="97498"/>
                    <a:pt x="0" y="83124"/>
                    <a:pt x="0" y="68136"/>
                  </a:cubicBezTo>
                  <a:lnTo>
                    <a:pt x="0" y="56513"/>
                  </a:lnTo>
                  <a:cubicBezTo>
                    <a:pt x="0" y="41525"/>
                    <a:pt x="5954" y="27150"/>
                    <a:pt x="16552" y="16552"/>
                  </a:cubicBezTo>
                  <a:cubicBezTo>
                    <a:pt x="27150" y="5954"/>
                    <a:pt x="41525" y="0"/>
                    <a:pt x="56513" y="0"/>
                  </a:cubicBezTo>
                  <a:close/>
                </a:path>
              </a:pathLst>
            </a:custGeom>
            <a:solidFill>
              <a:srgbClr val="EAD1DC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577291" cy="16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HU-09 Calendario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941589" y="1645528"/>
            <a:ext cx="1435436" cy="28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3B3B3B"/>
                </a:solidFill>
                <a:latin typeface="Lovelace Bold"/>
                <a:ea typeface="Lovelace Bold"/>
                <a:cs typeface="Lovelace Bold"/>
                <a:sym typeface="Lovelace Bold"/>
              </a:rPr>
              <a:t>SPRINT 1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28700" y="2053321"/>
            <a:ext cx="529447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Portal cultural y base funcional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479763" y="4238288"/>
            <a:ext cx="5825546" cy="67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3"/>
              </a:lnSpc>
            </a:pPr>
            <a:r>
              <a:rPr lang="en-US" sz="18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P</a:t>
            </a:r>
            <a:r>
              <a:rPr lang="en-US" sz="18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ortal público navegable y primer incremento del producto desplegado.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568045" y="5667435"/>
            <a:ext cx="8033030" cy="3988157"/>
            <a:chOff x="0" y="0"/>
            <a:chExt cx="10710707" cy="5317543"/>
          </a:xfrm>
        </p:grpSpPr>
        <p:grpSp>
          <p:nvGrpSpPr>
            <p:cNvPr name="Group 71" id="71"/>
            <p:cNvGrpSpPr/>
            <p:nvPr/>
          </p:nvGrpSpPr>
          <p:grpSpPr>
            <a:xfrm rot="0">
              <a:off x="0" y="0"/>
              <a:ext cx="10710707" cy="5210772"/>
              <a:chOff x="0" y="0"/>
              <a:chExt cx="3063932" cy="1490607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3063932" cy="1490607"/>
              </a:xfrm>
              <a:custGeom>
                <a:avLst/>
                <a:gdLst/>
                <a:ahLst/>
                <a:cxnLst/>
                <a:rect r="r" b="b" t="t" l="l"/>
                <a:pathLst>
                  <a:path h="1490607" w="3063932">
                    <a:moveTo>
                      <a:pt x="33940" y="0"/>
                    </a:moveTo>
                    <a:lnTo>
                      <a:pt x="3029992" y="0"/>
                    </a:lnTo>
                    <a:cubicBezTo>
                      <a:pt x="3048736" y="0"/>
                      <a:pt x="3063932" y="15196"/>
                      <a:pt x="3063932" y="33940"/>
                    </a:cubicBezTo>
                    <a:lnTo>
                      <a:pt x="3063932" y="1456667"/>
                    </a:lnTo>
                    <a:cubicBezTo>
                      <a:pt x="3063932" y="1475411"/>
                      <a:pt x="3048736" y="1490607"/>
                      <a:pt x="3029992" y="1490607"/>
                    </a:cubicBezTo>
                    <a:lnTo>
                      <a:pt x="33940" y="1490607"/>
                    </a:lnTo>
                    <a:cubicBezTo>
                      <a:pt x="15196" y="1490607"/>
                      <a:pt x="0" y="1475411"/>
                      <a:pt x="0" y="1456667"/>
                    </a:cubicBezTo>
                    <a:lnTo>
                      <a:pt x="0" y="33940"/>
                    </a:lnTo>
                    <a:cubicBezTo>
                      <a:pt x="0" y="15196"/>
                      <a:pt x="15196" y="0"/>
                      <a:pt x="33940" y="0"/>
                    </a:cubicBezTo>
                    <a:close/>
                  </a:path>
                </a:pathLst>
              </a:custGeom>
              <a:solidFill>
                <a:srgbClr val="EDCFD4"/>
              </a:solidFill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114300"/>
                <a:ext cx="3063932" cy="16049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24"/>
                  </a:lnSpc>
                </a:pPr>
              </a:p>
            </p:txBody>
          </p:sp>
        </p:grpSp>
        <p:grpSp>
          <p:nvGrpSpPr>
            <p:cNvPr name="Group 74" id="74"/>
            <p:cNvGrpSpPr/>
            <p:nvPr/>
          </p:nvGrpSpPr>
          <p:grpSpPr>
            <a:xfrm rot="0">
              <a:off x="0" y="106772"/>
              <a:ext cx="10710707" cy="5210772"/>
              <a:chOff x="0" y="0"/>
              <a:chExt cx="3063932" cy="1490607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3063932" cy="1490607"/>
              </a:xfrm>
              <a:custGeom>
                <a:avLst/>
                <a:gdLst/>
                <a:ahLst/>
                <a:cxnLst/>
                <a:rect r="r" b="b" t="t" l="l"/>
                <a:pathLst>
                  <a:path h="1490607" w="3063932">
                    <a:moveTo>
                      <a:pt x="33940" y="0"/>
                    </a:moveTo>
                    <a:lnTo>
                      <a:pt x="3029992" y="0"/>
                    </a:lnTo>
                    <a:cubicBezTo>
                      <a:pt x="3048736" y="0"/>
                      <a:pt x="3063932" y="15196"/>
                      <a:pt x="3063932" y="33940"/>
                    </a:cubicBezTo>
                    <a:lnTo>
                      <a:pt x="3063932" y="1456667"/>
                    </a:lnTo>
                    <a:cubicBezTo>
                      <a:pt x="3063932" y="1475411"/>
                      <a:pt x="3048736" y="1490607"/>
                      <a:pt x="3029992" y="1490607"/>
                    </a:cubicBezTo>
                    <a:lnTo>
                      <a:pt x="33940" y="1490607"/>
                    </a:lnTo>
                    <a:cubicBezTo>
                      <a:pt x="15196" y="1490607"/>
                      <a:pt x="0" y="1475411"/>
                      <a:pt x="0" y="1456667"/>
                    </a:cubicBezTo>
                    <a:lnTo>
                      <a:pt x="0" y="33940"/>
                    </a:lnTo>
                    <a:cubicBezTo>
                      <a:pt x="0" y="15196"/>
                      <a:pt x="15196" y="0"/>
                      <a:pt x="3394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114300"/>
                <a:ext cx="3063932" cy="16049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24"/>
                  </a:lnSpc>
                </a:pPr>
              </a:p>
            </p:txBody>
          </p:sp>
        </p:grpSp>
      </p:grpSp>
      <p:grpSp>
        <p:nvGrpSpPr>
          <p:cNvPr name="Group 77" id="77"/>
          <p:cNvGrpSpPr/>
          <p:nvPr/>
        </p:nvGrpSpPr>
        <p:grpSpPr>
          <a:xfrm rot="0">
            <a:off x="9226270" y="5667435"/>
            <a:ext cx="8033030" cy="3988157"/>
            <a:chOff x="0" y="0"/>
            <a:chExt cx="10710707" cy="5317543"/>
          </a:xfrm>
        </p:grpSpPr>
        <p:grpSp>
          <p:nvGrpSpPr>
            <p:cNvPr name="Group 78" id="78"/>
            <p:cNvGrpSpPr/>
            <p:nvPr/>
          </p:nvGrpSpPr>
          <p:grpSpPr>
            <a:xfrm rot="0">
              <a:off x="0" y="0"/>
              <a:ext cx="10710707" cy="5210772"/>
              <a:chOff x="0" y="0"/>
              <a:chExt cx="3063932" cy="1490607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3063932" cy="1490607"/>
              </a:xfrm>
              <a:custGeom>
                <a:avLst/>
                <a:gdLst/>
                <a:ahLst/>
                <a:cxnLst/>
                <a:rect r="r" b="b" t="t" l="l"/>
                <a:pathLst>
                  <a:path h="1490607" w="3063932">
                    <a:moveTo>
                      <a:pt x="33940" y="0"/>
                    </a:moveTo>
                    <a:lnTo>
                      <a:pt x="3029992" y="0"/>
                    </a:lnTo>
                    <a:cubicBezTo>
                      <a:pt x="3048736" y="0"/>
                      <a:pt x="3063932" y="15196"/>
                      <a:pt x="3063932" y="33940"/>
                    </a:cubicBezTo>
                    <a:lnTo>
                      <a:pt x="3063932" y="1456667"/>
                    </a:lnTo>
                    <a:cubicBezTo>
                      <a:pt x="3063932" y="1475411"/>
                      <a:pt x="3048736" y="1490607"/>
                      <a:pt x="3029992" y="1490607"/>
                    </a:cubicBezTo>
                    <a:lnTo>
                      <a:pt x="33940" y="1490607"/>
                    </a:lnTo>
                    <a:cubicBezTo>
                      <a:pt x="15196" y="1490607"/>
                      <a:pt x="0" y="1475411"/>
                      <a:pt x="0" y="1456667"/>
                    </a:cubicBezTo>
                    <a:lnTo>
                      <a:pt x="0" y="33940"/>
                    </a:lnTo>
                    <a:cubicBezTo>
                      <a:pt x="0" y="15196"/>
                      <a:pt x="15196" y="0"/>
                      <a:pt x="33940" y="0"/>
                    </a:cubicBezTo>
                    <a:close/>
                  </a:path>
                </a:pathLst>
              </a:custGeom>
              <a:solidFill>
                <a:srgbClr val="EDCFD4"/>
              </a:solidFill>
            </p:spPr>
          </p:sp>
          <p:sp>
            <p:nvSpPr>
              <p:cNvPr name="TextBox 80" id="80"/>
              <p:cNvSpPr txBox="true"/>
              <p:nvPr/>
            </p:nvSpPr>
            <p:spPr>
              <a:xfrm>
                <a:off x="0" y="-114300"/>
                <a:ext cx="3063932" cy="16049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24"/>
                  </a:lnSpc>
                </a:pPr>
              </a:p>
            </p:txBody>
          </p:sp>
        </p:grpSp>
        <p:grpSp>
          <p:nvGrpSpPr>
            <p:cNvPr name="Group 81" id="81"/>
            <p:cNvGrpSpPr/>
            <p:nvPr/>
          </p:nvGrpSpPr>
          <p:grpSpPr>
            <a:xfrm rot="0">
              <a:off x="0" y="106772"/>
              <a:ext cx="10710707" cy="5210772"/>
              <a:chOff x="0" y="0"/>
              <a:chExt cx="3063932" cy="1490607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3063932" cy="1490607"/>
              </a:xfrm>
              <a:custGeom>
                <a:avLst/>
                <a:gdLst/>
                <a:ahLst/>
                <a:cxnLst/>
                <a:rect r="r" b="b" t="t" l="l"/>
                <a:pathLst>
                  <a:path h="1490607" w="3063932">
                    <a:moveTo>
                      <a:pt x="33940" y="0"/>
                    </a:moveTo>
                    <a:lnTo>
                      <a:pt x="3029992" y="0"/>
                    </a:lnTo>
                    <a:cubicBezTo>
                      <a:pt x="3048736" y="0"/>
                      <a:pt x="3063932" y="15196"/>
                      <a:pt x="3063932" y="33940"/>
                    </a:cubicBezTo>
                    <a:lnTo>
                      <a:pt x="3063932" y="1456667"/>
                    </a:lnTo>
                    <a:cubicBezTo>
                      <a:pt x="3063932" y="1475411"/>
                      <a:pt x="3048736" y="1490607"/>
                      <a:pt x="3029992" y="1490607"/>
                    </a:cubicBezTo>
                    <a:lnTo>
                      <a:pt x="33940" y="1490607"/>
                    </a:lnTo>
                    <a:cubicBezTo>
                      <a:pt x="15196" y="1490607"/>
                      <a:pt x="0" y="1475411"/>
                      <a:pt x="0" y="1456667"/>
                    </a:cubicBezTo>
                    <a:lnTo>
                      <a:pt x="0" y="33940"/>
                    </a:lnTo>
                    <a:cubicBezTo>
                      <a:pt x="0" y="15196"/>
                      <a:pt x="15196" y="0"/>
                      <a:pt x="3394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0" y="-114300"/>
                <a:ext cx="3063932" cy="16049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24"/>
                  </a:lnSpc>
                </a:pPr>
              </a:p>
            </p:txBody>
          </p:sp>
        </p:grpSp>
      </p:grpSp>
      <p:sp>
        <p:nvSpPr>
          <p:cNvPr name="Freeform 84" id="84"/>
          <p:cNvSpPr/>
          <p:nvPr/>
        </p:nvSpPr>
        <p:spPr>
          <a:xfrm flipH="false" flipV="false" rot="0">
            <a:off x="1028700" y="4387487"/>
            <a:ext cx="265137" cy="265137"/>
          </a:xfrm>
          <a:custGeom>
            <a:avLst/>
            <a:gdLst/>
            <a:ahLst/>
            <a:cxnLst/>
            <a:rect r="r" b="b" t="t" l="l"/>
            <a:pathLst>
              <a:path h="265137" w="265137">
                <a:moveTo>
                  <a:pt x="0" y="0"/>
                </a:moveTo>
                <a:lnTo>
                  <a:pt x="265137" y="0"/>
                </a:lnTo>
                <a:lnTo>
                  <a:pt x="265137" y="265136"/>
                </a:lnTo>
                <a:lnTo>
                  <a:pt x="0" y="265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5" id="85"/>
          <p:cNvGrpSpPr/>
          <p:nvPr/>
        </p:nvGrpSpPr>
        <p:grpSpPr>
          <a:xfrm rot="0">
            <a:off x="1028700" y="6989628"/>
            <a:ext cx="2191902" cy="473275"/>
            <a:chOff x="0" y="0"/>
            <a:chExt cx="577291" cy="12464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77291" cy="124648"/>
            </a:xfrm>
            <a:custGeom>
              <a:avLst/>
              <a:gdLst/>
              <a:ahLst/>
              <a:cxnLst/>
              <a:rect r="r" b="b" t="t" l="l"/>
              <a:pathLst>
                <a:path h="124648" w="577291">
                  <a:moveTo>
                    <a:pt x="56513" y="0"/>
                  </a:moveTo>
                  <a:lnTo>
                    <a:pt x="520778" y="0"/>
                  </a:lnTo>
                  <a:cubicBezTo>
                    <a:pt x="535766" y="0"/>
                    <a:pt x="550141" y="5954"/>
                    <a:pt x="560739" y="16552"/>
                  </a:cubicBezTo>
                  <a:cubicBezTo>
                    <a:pt x="571337" y="27150"/>
                    <a:pt x="577291" y="41525"/>
                    <a:pt x="577291" y="56513"/>
                  </a:cubicBezTo>
                  <a:lnTo>
                    <a:pt x="577291" y="68136"/>
                  </a:lnTo>
                  <a:cubicBezTo>
                    <a:pt x="577291" y="83124"/>
                    <a:pt x="571337" y="97498"/>
                    <a:pt x="560739" y="108096"/>
                  </a:cubicBezTo>
                  <a:cubicBezTo>
                    <a:pt x="550141" y="118694"/>
                    <a:pt x="535766" y="124648"/>
                    <a:pt x="520778" y="124648"/>
                  </a:cubicBezTo>
                  <a:lnTo>
                    <a:pt x="56513" y="124648"/>
                  </a:lnTo>
                  <a:cubicBezTo>
                    <a:pt x="41525" y="124648"/>
                    <a:pt x="27150" y="118694"/>
                    <a:pt x="16552" y="108096"/>
                  </a:cubicBezTo>
                  <a:cubicBezTo>
                    <a:pt x="5954" y="97498"/>
                    <a:pt x="0" y="83124"/>
                    <a:pt x="0" y="68136"/>
                  </a:cubicBezTo>
                  <a:lnTo>
                    <a:pt x="0" y="56513"/>
                  </a:lnTo>
                  <a:cubicBezTo>
                    <a:pt x="0" y="41525"/>
                    <a:pt x="5954" y="27150"/>
                    <a:pt x="16552" y="16552"/>
                  </a:cubicBezTo>
                  <a:cubicBezTo>
                    <a:pt x="27150" y="5954"/>
                    <a:pt x="41525" y="0"/>
                    <a:pt x="56513" y="0"/>
                  </a:cubicBezTo>
                  <a:close/>
                </a:path>
              </a:pathLst>
            </a:custGeom>
            <a:solidFill>
              <a:srgbClr val="EAD1DC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577291" cy="16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HU-12 Inscripción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3330838" y="6989628"/>
            <a:ext cx="2191902" cy="473275"/>
            <a:chOff x="0" y="0"/>
            <a:chExt cx="577291" cy="12464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77291" cy="124648"/>
            </a:xfrm>
            <a:custGeom>
              <a:avLst/>
              <a:gdLst/>
              <a:ahLst/>
              <a:cxnLst/>
              <a:rect r="r" b="b" t="t" l="l"/>
              <a:pathLst>
                <a:path h="124648" w="577291">
                  <a:moveTo>
                    <a:pt x="56513" y="0"/>
                  </a:moveTo>
                  <a:lnTo>
                    <a:pt x="520778" y="0"/>
                  </a:lnTo>
                  <a:cubicBezTo>
                    <a:pt x="535766" y="0"/>
                    <a:pt x="550141" y="5954"/>
                    <a:pt x="560739" y="16552"/>
                  </a:cubicBezTo>
                  <a:cubicBezTo>
                    <a:pt x="571337" y="27150"/>
                    <a:pt x="577291" y="41525"/>
                    <a:pt x="577291" y="56513"/>
                  </a:cubicBezTo>
                  <a:lnTo>
                    <a:pt x="577291" y="68136"/>
                  </a:lnTo>
                  <a:cubicBezTo>
                    <a:pt x="577291" y="83124"/>
                    <a:pt x="571337" y="97498"/>
                    <a:pt x="560739" y="108096"/>
                  </a:cubicBezTo>
                  <a:cubicBezTo>
                    <a:pt x="550141" y="118694"/>
                    <a:pt x="535766" y="124648"/>
                    <a:pt x="520778" y="124648"/>
                  </a:cubicBezTo>
                  <a:lnTo>
                    <a:pt x="56513" y="124648"/>
                  </a:lnTo>
                  <a:cubicBezTo>
                    <a:pt x="41525" y="124648"/>
                    <a:pt x="27150" y="118694"/>
                    <a:pt x="16552" y="108096"/>
                  </a:cubicBezTo>
                  <a:cubicBezTo>
                    <a:pt x="5954" y="97498"/>
                    <a:pt x="0" y="83124"/>
                    <a:pt x="0" y="68136"/>
                  </a:cubicBezTo>
                  <a:lnTo>
                    <a:pt x="0" y="56513"/>
                  </a:lnTo>
                  <a:cubicBezTo>
                    <a:pt x="0" y="41525"/>
                    <a:pt x="5954" y="27150"/>
                    <a:pt x="16552" y="16552"/>
                  </a:cubicBezTo>
                  <a:cubicBezTo>
                    <a:pt x="27150" y="5954"/>
                    <a:pt x="41525" y="0"/>
                    <a:pt x="56513" y="0"/>
                  </a:cubicBezTo>
                  <a:close/>
                </a:path>
              </a:pathLst>
            </a:custGeom>
            <a:solidFill>
              <a:srgbClr val="EAD1DC"/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577291" cy="16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HU-12 Disponibilidad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5613925" y="7014423"/>
            <a:ext cx="2863552" cy="473275"/>
            <a:chOff x="0" y="0"/>
            <a:chExt cx="754187" cy="12464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54187" cy="124648"/>
            </a:xfrm>
            <a:custGeom>
              <a:avLst/>
              <a:gdLst/>
              <a:ahLst/>
              <a:cxnLst/>
              <a:rect r="r" b="b" t="t" l="l"/>
              <a:pathLst>
                <a:path h="124648" w="754187">
                  <a:moveTo>
                    <a:pt x="43258" y="0"/>
                  </a:moveTo>
                  <a:lnTo>
                    <a:pt x="710929" y="0"/>
                  </a:lnTo>
                  <a:cubicBezTo>
                    <a:pt x="734819" y="0"/>
                    <a:pt x="754187" y="19367"/>
                    <a:pt x="754187" y="43258"/>
                  </a:cubicBezTo>
                  <a:lnTo>
                    <a:pt x="754187" y="81391"/>
                  </a:lnTo>
                  <a:cubicBezTo>
                    <a:pt x="754187" y="92863"/>
                    <a:pt x="749629" y="103866"/>
                    <a:pt x="741517" y="111979"/>
                  </a:cubicBezTo>
                  <a:cubicBezTo>
                    <a:pt x="733404" y="120091"/>
                    <a:pt x="722402" y="124648"/>
                    <a:pt x="710929" y="124648"/>
                  </a:cubicBezTo>
                  <a:lnTo>
                    <a:pt x="43258" y="124648"/>
                  </a:lnTo>
                  <a:cubicBezTo>
                    <a:pt x="19367" y="124648"/>
                    <a:pt x="0" y="105281"/>
                    <a:pt x="0" y="81391"/>
                  </a:cubicBezTo>
                  <a:lnTo>
                    <a:pt x="0" y="43258"/>
                  </a:lnTo>
                  <a:cubicBezTo>
                    <a:pt x="0" y="31785"/>
                    <a:pt x="4557" y="20782"/>
                    <a:pt x="12670" y="12670"/>
                  </a:cubicBezTo>
                  <a:cubicBezTo>
                    <a:pt x="20782" y="4557"/>
                    <a:pt x="31785" y="0"/>
                    <a:pt x="43258" y="0"/>
                  </a:cubicBezTo>
                  <a:close/>
                </a:path>
              </a:pathLst>
            </a:custGeom>
            <a:solidFill>
              <a:srgbClr val="EAD1DC"/>
            </a:solid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754187" cy="16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HU-14 Gestión inscripciones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028700" y="7605778"/>
            <a:ext cx="2191902" cy="473275"/>
            <a:chOff x="0" y="0"/>
            <a:chExt cx="577291" cy="12464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77291" cy="124648"/>
            </a:xfrm>
            <a:custGeom>
              <a:avLst/>
              <a:gdLst/>
              <a:ahLst/>
              <a:cxnLst/>
              <a:rect r="r" b="b" t="t" l="l"/>
              <a:pathLst>
                <a:path h="124648" w="577291">
                  <a:moveTo>
                    <a:pt x="56513" y="0"/>
                  </a:moveTo>
                  <a:lnTo>
                    <a:pt x="520778" y="0"/>
                  </a:lnTo>
                  <a:cubicBezTo>
                    <a:pt x="535766" y="0"/>
                    <a:pt x="550141" y="5954"/>
                    <a:pt x="560739" y="16552"/>
                  </a:cubicBezTo>
                  <a:cubicBezTo>
                    <a:pt x="571337" y="27150"/>
                    <a:pt x="577291" y="41525"/>
                    <a:pt x="577291" y="56513"/>
                  </a:cubicBezTo>
                  <a:lnTo>
                    <a:pt x="577291" y="68136"/>
                  </a:lnTo>
                  <a:cubicBezTo>
                    <a:pt x="577291" y="83124"/>
                    <a:pt x="571337" y="97498"/>
                    <a:pt x="560739" y="108096"/>
                  </a:cubicBezTo>
                  <a:cubicBezTo>
                    <a:pt x="550141" y="118694"/>
                    <a:pt x="535766" y="124648"/>
                    <a:pt x="520778" y="124648"/>
                  </a:cubicBezTo>
                  <a:lnTo>
                    <a:pt x="56513" y="124648"/>
                  </a:lnTo>
                  <a:cubicBezTo>
                    <a:pt x="41525" y="124648"/>
                    <a:pt x="27150" y="118694"/>
                    <a:pt x="16552" y="108096"/>
                  </a:cubicBezTo>
                  <a:cubicBezTo>
                    <a:pt x="5954" y="97498"/>
                    <a:pt x="0" y="83124"/>
                    <a:pt x="0" y="68136"/>
                  </a:cubicBezTo>
                  <a:lnTo>
                    <a:pt x="0" y="56513"/>
                  </a:lnTo>
                  <a:cubicBezTo>
                    <a:pt x="0" y="41525"/>
                    <a:pt x="5954" y="27150"/>
                    <a:pt x="16552" y="16552"/>
                  </a:cubicBezTo>
                  <a:cubicBezTo>
                    <a:pt x="27150" y="5954"/>
                    <a:pt x="41525" y="0"/>
                    <a:pt x="56513" y="0"/>
                  </a:cubicBezTo>
                  <a:close/>
                </a:path>
              </a:pathLst>
            </a:custGeom>
            <a:solidFill>
              <a:srgbClr val="EAD1DC"/>
            </a:solid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577291" cy="16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HU-15 Participantes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3383696" y="7615303"/>
            <a:ext cx="2191902" cy="473275"/>
            <a:chOff x="0" y="0"/>
            <a:chExt cx="577291" cy="12464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7291" cy="124648"/>
            </a:xfrm>
            <a:custGeom>
              <a:avLst/>
              <a:gdLst/>
              <a:ahLst/>
              <a:cxnLst/>
              <a:rect r="r" b="b" t="t" l="l"/>
              <a:pathLst>
                <a:path h="124648" w="577291">
                  <a:moveTo>
                    <a:pt x="56513" y="0"/>
                  </a:moveTo>
                  <a:lnTo>
                    <a:pt x="520778" y="0"/>
                  </a:lnTo>
                  <a:cubicBezTo>
                    <a:pt x="535766" y="0"/>
                    <a:pt x="550141" y="5954"/>
                    <a:pt x="560739" y="16552"/>
                  </a:cubicBezTo>
                  <a:cubicBezTo>
                    <a:pt x="571337" y="27150"/>
                    <a:pt x="577291" y="41525"/>
                    <a:pt x="577291" y="56513"/>
                  </a:cubicBezTo>
                  <a:lnTo>
                    <a:pt x="577291" y="68136"/>
                  </a:lnTo>
                  <a:cubicBezTo>
                    <a:pt x="577291" y="83124"/>
                    <a:pt x="571337" y="97498"/>
                    <a:pt x="560739" y="108096"/>
                  </a:cubicBezTo>
                  <a:cubicBezTo>
                    <a:pt x="550141" y="118694"/>
                    <a:pt x="535766" y="124648"/>
                    <a:pt x="520778" y="124648"/>
                  </a:cubicBezTo>
                  <a:lnTo>
                    <a:pt x="56513" y="124648"/>
                  </a:lnTo>
                  <a:cubicBezTo>
                    <a:pt x="41525" y="124648"/>
                    <a:pt x="27150" y="118694"/>
                    <a:pt x="16552" y="108096"/>
                  </a:cubicBezTo>
                  <a:cubicBezTo>
                    <a:pt x="5954" y="97498"/>
                    <a:pt x="0" y="83124"/>
                    <a:pt x="0" y="68136"/>
                  </a:cubicBezTo>
                  <a:lnTo>
                    <a:pt x="0" y="56513"/>
                  </a:lnTo>
                  <a:cubicBezTo>
                    <a:pt x="0" y="41525"/>
                    <a:pt x="5954" y="27150"/>
                    <a:pt x="16552" y="16552"/>
                  </a:cubicBezTo>
                  <a:cubicBezTo>
                    <a:pt x="27150" y="5954"/>
                    <a:pt x="41525" y="0"/>
                    <a:pt x="56513" y="0"/>
                  </a:cubicBezTo>
                  <a:close/>
                </a:path>
              </a:pathLst>
            </a:custGeom>
            <a:solidFill>
              <a:srgbClr val="EAD1DC"/>
            </a:solid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577291" cy="16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HU-19 Dashboard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5737523" y="7615303"/>
            <a:ext cx="2191902" cy="473275"/>
            <a:chOff x="0" y="0"/>
            <a:chExt cx="577291" cy="12464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77291" cy="124648"/>
            </a:xfrm>
            <a:custGeom>
              <a:avLst/>
              <a:gdLst/>
              <a:ahLst/>
              <a:cxnLst/>
              <a:rect r="r" b="b" t="t" l="l"/>
              <a:pathLst>
                <a:path h="124648" w="577291">
                  <a:moveTo>
                    <a:pt x="56513" y="0"/>
                  </a:moveTo>
                  <a:lnTo>
                    <a:pt x="520778" y="0"/>
                  </a:lnTo>
                  <a:cubicBezTo>
                    <a:pt x="535766" y="0"/>
                    <a:pt x="550141" y="5954"/>
                    <a:pt x="560739" y="16552"/>
                  </a:cubicBezTo>
                  <a:cubicBezTo>
                    <a:pt x="571337" y="27150"/>
                    <a:pt x="577291" y="41525"/>
                    <a:pt x="577291" y="56513"/>
                  </a:cubicBezTo>
                  <a:lnTo>
                    <a:pt x="577291" y="68136"/>
                  </a:lnTo>
                  <a:cubicBezTo>
                    <a:pt x="577291" y="83124"/>
                    <a:pt x="571337" y="97498"/>
                    <a:pt x="560739" y="108096"/>
                  </a:cubicBezTo>
                  <a:cubicBezTo>
                    <a:pt x="550141" y="118694"/>
                    <a:pt x="535766" y="124648"/>
                    <a:pt x="520778" y="124648"/>
                  </a:cubicBezTo>
                  <a:lnTo>
                    <a:pt x="56513" y="124648"/>
                  </a:lnTo>
                  <a:cubicBezTo>
                    <a:pt x="41525" y="124648"/>
                    <a:pt x="27150" y="118694"/>
                    <a:pt x="16552" y="108096"/>
                  </a:cubicBezTo>
                  <a:cubicBezTo>
                    <a:pt x="5954" y="97498"/>
                    <a:pt x="0" y="83124"/>
                    <a:pt x="0" y="68136"/>
                  </a:cubicBezTo>
                  <a:lnTo>
                    <a:pt x="0" y="56513"/>
                  </a:lnTo>
                  <a:cubicBezTo>
                    <a:pt x="0" y="41525"/>
                    <a:pt x="5954" y="27150"/>
                    <a:pt x="16552" y="16552"/>
                  </a:cubicBezTo>
                  <a:cubicBezTo>
                    <a:pt x="27150" y="5954"/>
                    <a:pt x="41525" y="0"/>
                    <a:pt x="56513" y="0"/>
                  </a:cubicBezTo>
                  <a:close/>
                </a:path>
              </a:pathLst>
            </a:custGeom>
            <a:solidFill>
              <a:srgbClr val="EAD1DC"/>
            </a:solid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577291" cy="16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HU-20 Métricas</a:t>
              </a:r>
            </a:p>
          </p:txBody>
        </p:sp>
      </p:grpSp>
      <p:sp>
        <p:nvSpPr>
          <p:cNvPr name="TextBox 103" id="103"/>
          <p:cNvSpPr txBox="true"/>
          <p:nvPr/>
        </p:nvSpPr>
        <p:spPr>
          <a:xfrm rot="0">
            <a:off x="1028700" y="5943660"/>
            <a:ext cx="1435436" cy="28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3B3B3B"/>
                </a:solidFill>
                <a:latin typeface="Lovelace Bold"/>
                <a:ea typeface="Lovelace Bold"/>
                <a:cs typeface="Lovelace Bold"/>
                <a:sym typeface="Lovelace Bold"/>
              </a:rPr>
              <a:t>SPRINT 3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115811" y="6351453"/>
            <a:ext cx="672650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Inscripciones, participantes y métricas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479763" y="8881864"/>
            <a:ext cx="6299533" cy="67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3"/>
              </a:lnSpc>
            </a:pPr>
            <a:r>
              <a:rPr lang="en-US" sz="18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F</a:t>
            </a:r>
            <a:r>
              <a:rPr lang="en-US" sz="18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lujo de inscripción completo, gestión de participantes, dashboard y reportes.</a:t>
            </a:r>
          </a:p>
        </p:txBody>
      </p:sp>
      <p:sp>
        <p:nvSpPr>
          <p:cNvPr name="Freeform 106" id="106"/>
          <p:cNvSpPr/>
          <p:nvPr/>
        </p:nvSpPr>
        <p:spPr>
          <a:xfrm flipH="false" flipV="false" rot="0">
            <a:off x="1074158" y="9009527"/>
            <a:ext cx="265137" cy="265137"/>
          </a:xfrm>
          <a:custGeom>
            <a:avLst/>
            <a:gdLst/>
            <a:ahLst/>
            <a:cxnLst/>
            <a:rect r="r" b="b" t="t" l="l"/>
            <a:pathLst>
              <a:path h="265137" w="265137">
                <a:moveTo>
                  <a:pt x="0" y="0"/>
                </a:moveTo>
                <a:lnTo>
                  <a:pt x="265136" y="0"/>
                </a:lnTo>
                <a:lnTo>
                  <a:pt x="265136" y="265137"/>
                </a:lnTo>
                <a:lnTo>
                  <a:pt x="0" y="2651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7" id="107"/>
          <p:cNvGrpSpPr/>
          <p:nvPr/>
        </p:nvGrpSpPr>
        <p:grpSpPr>
          <a:xfrm rot="0">
            <a:off x="9865889" y="7014423"/>
            <a:ext cx="2191902" cy="473275"/>
            <a:chOff x="0" y="0"/>
            <a:chExt cx="577291" cy="12464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77291" cy="124648"/>
            </a:xfrm>
            <a:custGeom>
              <a:avLst/>
              <a:gdLst/>
              <a:ahLst/>
              <a:cxnLst/>
              <a:rect r="r" b="b" t="t" l="l"/>
              <a:pathLst>
                <a:path h="124648" w="577291">
                  <a:moveTo>
                    <a:pt x="56513" y="0"/>
                  </a:moveTo>
                  <a:lnTo>
                    <a:pt x="520778" y="0"/>
                  </a:lnTo>
                  <a:cubicBezTo>
                    <a:pt x="535766" y="0"/>
                    <a:pt x="550141" y="5954"/>
                    <a:pt x="560739" y="16552"/>
                  </a:cubicBezTo>
                  <a:cubicBezTo>
                    <a:pt x="571337" y="27150"/>
                    <a:pt x="577291" y="41525"/>
                    <a:pt x="577291" y="56513"/>
                  </a:cubicBezTo>
                  <a:lnTo>
                    <a:pt x="577291" y="68136"/>
                  </a:lnTo>
                  <a:cubicBezTo>
                    <a:pt x="577291" y="83124"/>
                    <a:pt x="571337" y="97498"/>
                    <a:pt x="560739" y="108096"/>
                  </a:cubicBezTo>
                  <a:cubicBezTo>
                    <a:pt x="550141" y="118694"/>
                    <a:pt x="535766" y="124648"/>
                    <a:pt x="520778" y="124648"/>
                  </a:cubicBezTo>
                  <a:lnTo>
                    <a:pt x="56513" y="124648"/>
                  </a:lnTo>
                  <a:cubicBezTo>
                    <a:pt x="41525" y="124648"/>
                    <a:pt x="27150" y="118694"/>
                    <a:pt x="16552" y="108096"/>
                  </a:cubicBezTo>
                  <a:cubicBezTo>
                    <a:pt x="5954" y="97498"/>
                    <a:pt x="0" y="83124"/>
                    <a:pt x="0" y="68136"/>
                  </a:cubicBezTo>
                  <a:lnTo>
                    <a:pt x="0" y="56513"/>
                  </a:lnTo>
                  <a:cubicBezTo>
                    <a:pt x="0" y="41525"/>
                    <a:pt x="5954" y="27150"/>
                    <a:pt x="16552" y="16552"/>
                  </a:cubicBezTo>
                  <a:cubicBezTo>
                    <a:pt x="27150" y="5954"/>
                    <a:pt x="41525" y="0"/>
                    <a:pt x="56513" y="0"/>
                  </a:cubicBezTo>
                  <a:close/>
                </a:path>
              </a:pathLst>
            </a:custGeom>
            <a:solidFill>
              <a:srgbClr val="EAD1DC"/>
            </a:solid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577291" cy="16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HU-22 Asistente IA</a:t>
              </a:r>
            </a:p>
          </p:txBody>
        </p:sp>
      </p:grpSp>
      <p:sp>
        <p:nvSpPr>
          <p:cNvPr name="TextBox 110" id="110"/>
          <p:cNvSpPr txBox="true"/>
          <p:nvPr/>
        </p:nvSpPr>
        <p:spPr>
          <a:xfrm rot="0">
            <a:off x="9865889" y="5968455"/>
            <a:ext cx="1435436" cy="28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3B3B3B"/>
                </a:solidFill>
                <a:latin typeface="Lovelace Bold"/>
                <a:ea typeface="Lovelace Bold"/>
                <a:cs typeface="Lovelace Bold"/>
                <a:sym typeface="Lovelace Bold"/>
              </a:rPr>
              <a:t>SPRINT 4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9953000" y="6376248"/>
            <a:ext cx="672650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IA e integración final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0316952" y="8056630"/>
            <a:ext cx="5825546" cy="67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3"/>
              </a:lnSpc>
            </a:pPr>
            <a:r>
              <a:rPr lang="en-US" sz="18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Asisten</a:t>
            </a:r>
            <a:r>
              <a:rPr lang="en-US" sz="1859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te cultural integrado, mapas, pruebas, correcciones y validación final de la plataforma.</a:t>
            </a:r>
          </a:p>
        </p:txBody>
      </p:sp>
      <p:sp>
        <p:nvSpPr>
          <p:cNvPr name="Freeform 113" id="113"/>
          <p:cNvSpPr/>
          <p:nvPr/>
        </p:nvSpPr>
        <p:spPr>
          <a:xfrm flipH="false" flipV="false" rot="0">
            <a:off x="9865889" y="8167930"/>
            <a:ext cx="265137" cy="265137"/>
          </a:xfrm>
          <a:custGeom>
            <a:avLst/>
            <a:gdLst/>
            <a:ahLst/>
            <a:cxnLst/>
            <a:rect r="r" b="b" t="t" l="l"/>
            <a:pathLst>
              <a:path h="265137" w="265137">
                <a:moveTo>
                  <a:pt x="0" y="0"/>
                </a:moveTo>
                <a:lnTo>
                  <a:pt x="265137" y="0"/>
                </a:lnTo>
                <a:lnTo>
                  <a:pt x="265137" y="265136"/>
                </a:lnTo>
                <a:lnTo>
                  <a:pt x="0" y="265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4" id="114"/>
          <p:cNvGrpSpPr/>
          <p:nvPr/>
        </p:nvGrpSpPr>
        <p:grpSpPr>
          <a:xfrm rot="0">
            <a:off x="1028700" y="8260027"/>
            <a:ext cx="2191902" cy="473275"/>
            <a:chOff x="0" y="0"/>
            <a:chExt cx="577291" cy="12464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77291" cy="124648"/>
            </a:xfrm>
            <a:custGeom>
              <a:avLst/>
              <a:gdLst/>
              <a:ahLst/>
              <a:cxnLst/>
              <a:rect r="r" b="b" t="t" l="l"/>
              <a:pathLst>
                <a:path h="124648" w="577291">
                  <a:moveTo>
                    <a:pt x="56513" y="0"/>
                  </a:moveTo>
                  <a:lnTo>
                    <a:pt x="520778" y="0"/>
                  </a:lnTo>
                  <a:cubicBezTo>
                    <a:pt x="535766" y="0"/>
                    <a:pt x="550141" y="5954"/>
                    <a:pt x="560739" y="16552"/>
                  </a:cubicBezTo>
                  <a:cubicBezTo>
                    <a:pt x="571337" y="27150"/>
                    <a:pt x="577291" y="41525"/>
                    <a:pt x="577291" y="56513"/>
                  </a:cubicBezTo>
                  <a:lnTo>
                    <a:pt x="577291" y="68136"/>
                  </a:lnTo>
                  <a:cubicBezTo>
                    <a:pt x="577291" y="83124"/>
                    <a:pt x="571337" y="97498"/>
                    <a:pt x="560739" y="108096"/>
                  </a:cubicBezTo>
                  <a:cubicBezTo>
                    <a:pt x="550141" y="118694"/>
                    <a:pt x="535766" y="124648"/>
                    <a:pt x="520778" y="124648"/>
                  </a:cubicBezTo>
                  <a:lnTo>
                    <a:pt x="56513" y="124648"/>
                  </a:lnTo>
                  <a:cubicBezTo>
                    <a:pt x="41525" y="124648"/>
                    <a:pt x="27150" y="118694"/>
                    <a:pt x="16552" y="108096"/>
                  </a:cubicBezTo>
                  <a:cubicBezTo>
                    <a:pt x="5954" y="97498"/>
                    <a:pt x="0" y="83124"/>
                    <a:pt x="0" y="68136"/>
                  </a:cubicBezTo>
                  <a:lnTo>
                    <a:pt x="0" y="56513"/>
                  </a:lnTo>
                  <a:cubicBezTo>
                    <a:pt x="0" y="41525"/>
                    <a:pt x="5954" y="27150"/>
                    <a:pt x="16552" y="16552"/>
                  </a:cubicBezTo>
                  <a:cubicBezTo>
                    <a:pt x="27150" y="5954"/>
                    <a:pt x="41525" y="0"/>
                    <a:pt x="56513" y="0"/>
                  </a:cubicBezTo>
                  <a:close/>
                </a:path>
              </a:pathLst>
            </a:custGeom>
            <a:solidFill>
              <a:srgbClr val="EAD1DC"/>
            </a:solid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577291" cy="16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HU-21 Exportación</a:t>
              </a:r>
            </a:p>
          </p:txBody>
        </p:sp>
      </p:grpSp>
      <p:sp>
        <p:nvSpPr>
          <p:cNvPr name="TextBox 117" id="117"/>
          <p:cNvSpPr txBox="true"/>
          <p:nvPr/>
        </p:nvSpPr>
        <p:spPr>
          <a:xfrm rot="0">
            <a:off x="17335500" y="9725025"/>
            <a:ext cx="571500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3B3B3B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16</a:t>
            </a:r>
          </a:p>
        </p:txBody>
      </p:sp>
      <p:grpSp>
        <p:nvGrpSpPr>
          <p:cNvPr name="Group 118" id="118"/>
          <p:cNvGrpSpPr/>
          <p:nvPr/>
        </p:nvGrpSpPr>
        <p:grpSpPr>
          <a:xfrm rot="0">
            <a:off x="12220885" y="6989628"/>
            <a:ext cx="2191902" cy="473275"/>
            <a:chOff x="0" y="0"/>
            <a:chExt cx="577291" cy="12464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577291" cy="124648"/>
            </a:xfrm>
            <a:custGeom>
              <a:avLst/>
              <a:gdLst/>
              <a:ahLst/>
              <a:cxnLst/>
              <a:rect r="r" b="b" t="t" l="l"/>
              <a:pathLst>
                <a:path h="124648" w="577291">
                  <a:moveTo>
                    <a:pt x="56513" y="0"/>
                  </a:moveTo>
                  <a:lnTo>
                    <a:pt x="520778" y="0"/>
                  </a:lnTo>
                  <a:cubicBezTo>
                    <a:pt x="535766" y="0"/>
                    <a:pt x="550141" y="5954"/>
                    <a:pt x="560739" y="16552"/>
                  </a:cubicBezTo>
                  <a:cubicBezTo>
                    <a:pt x="571337" y="27150"/>
                    <a:pt x="577291" y="41525"/>
                    <a:pt x="577291" y="56513"/>
                  </a:cubicBezTo>
                  <a:lnTo>
                    <a:pt x="577291" y="68136"/>
                  </a:lnTo>
                  <a:cubicBezTo>
                    <a:pt x="577291" y="83124"/>
                    <a:pt x="571337" y="97498"/>
                    <a:pt x="560739" y="108096"/>
                  </a:cubicBezTo>
                  <a:cubicBezTo>
                    <a:pt x="550141" y="118694"/>
                    <a:pt x="535766" y="124648"/>
                    <a:pt x="520778" y="124648"/>
                  </a:cubicBezTo>
                  <a:lnTo>
                    <a:pt x="56513" y="124648"/>
                  </a:lnTo>
                  <a:cubicBezTo>
                    <a:pt x="41525" y="124648"/>
                    <a:pt x="27150" y="118694"/>
                    <a:pt x="16552" y="108096"/>
                  </a:cubicBezTo>
                  <a:cubicBezTo>
                    <a:pt x="5954" y="97498"/>
                    <a:pt x="0" y="83124"/>
                    <a:pt x="0" y="68136"/>
                  </a:cubicBezTo>
                  <a:lnTo>
                    <a:pt x="0" y="56513"/>
                  </a:lnTo>
                  <a:cubicBezTo>
                    <a:pt x="0" y="41525"/>
                    <a:pt x="5954" y="27150"/>
                    <a:pt x="16552" y="16552"/>
                  </a:cubicBezTo>
                  <a:cubicBezTo>
                    <a:pt x="27150" y="5954"/>
                    <a:pt x="41525" y="0"/>
                    <a:pt x="56513" y="0"/>
                  </a:cubicBezTo>
                  <a:close/>
                </a:path>
              </a:pathLst>
            </a:custGeom>
            <a:solidFill>
              <a:srgbClr val="EAD1DC"/>
            </a:solid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577291" cy="16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HU-23 Google Maps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14204" y="28575"/>
            <a:ext cx="12305294" cy="10258425"/>
          </a:xfrm>
          <a:custGeom>
            <a:avLst/>
            <a:gdLst/>
            <a:ahLst/>
            <a:cxnLst/>
            <a:rect r="r" b="b" t="t" l="l"/>
            <a:pathLst>
              <a:path h="10258425" w="12305294">
                <a:moveTo>
                  <a:pt x="0" y="0"/>
                </a:moveTo>
                <a:lnTo>
                  <a:pt x="12305294" y="0"/>
                </a:lnTo>
                <a:lnTo>
                  <a:pt x="12305294" y="10258425"/>
                </a:lnTo>
                <a:lnTo>
                  <a:pt x="0" y="10258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335500" y="9725025"/>
            <a:ext cx="571500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3B3B3B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17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25037"/>
            <a:ext cx="709752" cy="650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00"/>
              </a:lnSpc>
            </a:pPr>
            <a:r>
              <a:rPr lang="en-US" sz="5000" spc="-290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833369"/>
            <a:ext cx="709752" cy="650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00"/>
              </a:lnSpc>
            </a:pPr>
            <a:r>
              <a:rPr lang="en-US" sz="5000" spc="-290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441700"/>
            <a:ext cx="709752" cy="650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00"/>
              </a:lnSpc>
            </a:pPr>
            <a:r>
              <a:rPr lang="en-US" sz="5000" spc="-290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646293"/>
            <a:ext cx="709752" cy="650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00"/>
              </a:lnSpc>
            </a:pPr>
            <a:r>
              <a:rPr lang="en-US" sz="5000" spc="-290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037961"/>
            <a:ext cx="709752" cy="650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00"/>
              </a:lnSpc>
            </a:pPr>
            <a:r>
              <a:rPr lang="en-US" sz="5000" spc="-290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246368"/>
            <a:ext cx="709752" cy="650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00"/>
              </a:lnSpc>
            </a:pPr>
            <a:r>
              <a:rPr lang="en-US" sz="5000" spc="-290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854700"/>
            <a:ext cx="709752" cy="650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00"/>
              </a:lnSpc>
            </a:pPr>
            <a:r>
              <a:rPr lang="en-US" sz="5000" spc="-290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454775"/>
            <a:ext cx="709752" cy="650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00"/>
              </a:lnSpc>
            </a:pPr>
            <a:r>
              <a:rPr lang="en-US" sz="5000" spc="-290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063106"/>
            <a:ext cx="709752" cy="650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00"/>
              </a:lnSpc>
            </a:pPr>
            <a:r>
              <a:rPr lang="en-US" sz="5000" spc="-290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663181"/>
            <a:ext cx="709752" cy="650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00"/>
              </a:lnSpc>
            </a:pPr>
            <a:r>
              <a:rPr lang="en-US" sz="5000" spc="-290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A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22062" y="1162050"/>
            <a:ext cx="4643877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40"/>
              </a:lnSpc>
            </a:pPr>
            <a:r>
              <a:rPr lang="en-US" sz="6000" spc="-348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Conclusiones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60787" y="8207235"/>
            <a:ext cx="4261514" cy="7081065"/>
          </a:xfrm>
          <a:custGeom>
            <a:avLst/>
            <a:gdLst/>
            <a:ahLst/>
            <a:cxnLst/>
            <a:rect r="r" b="b" t="t" l="l"/>
            <a:pathLst>
              <a:path h="7081065" w="4261514">
                <a:moveTo>
                  <a:pt x="0" y="0"/>
                </a:moveTo>
                <a:lnTo>
                  <a:pt x="4261514" y="0"/>
                </a:lnTo>
                <a:lnTo>
                  <a:pt x="4261514" y="7081065"/>
                </a:lnTo>
                <a:lnTo>
                  <a:pt x="0" y="70810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2700000">
            <a:off x="-12911" y="7495780"/>
            <a:ext cx="4658799" cy="5582439"/>
          </a:xfrm>
          <a:custGeom>
            <a:avLst/>
            <a:gdLst/>
            <a:ahLst/>
            <a:cxnLst/>
            <a:rect r="r" b="b" t="t" l="l"/>
            <a:pathLst>
              <a:path h="5582439" w="4658799">
                <a:moveTo>
                  <a:pt x="0" y="0"/>
                </a:moveTo>
                <a:lnTo>
                  <a:pt x="4658799" y="0"/>
                </a:lnTo>
                <a:lnTo>
                  <a:pt x="4658799" y="5582440"/>
                </a:lnTo>
                <a:lnTo>
                  <a:pt x="0" y="55824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33500" y="2476500"/>
            <a:ext cx="4953000" cy="5905500"/>
            <a:chOff x="0" y="0"/>
            <a:chExt cx="6604000" cy="787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6604000">
                  <a:moveTo>
                    <a:pt x="660400" y="0"/>
                  </a:moveTo>
                  <a:lnTo>
                    <a:pt x="5943600" y="0"/>
                  </a:lnTo>
                  <a:cubicBezTo>
                    <a:pt x="6308329" y="0"/>
                    <a:pt x="6604000" y="295671"/>
                    <a:pt x="6604000" y="660400"/>
                  </a:cubicBezTo>
                  <a:lnTo>
                    <a:pt x="6604000" y="7213600"/>
                  </a:lnTo>
                  <a:cubicBezTo>
                    <a:pt x="6604000" y="7578329"/>
                    <a:pt x="6308329" y="7874000"/>
                    <a:pt x="5943600" y="7874000"/>
                  </a:cubicBezTo>
                  <a:lnTo>
                    <a:pt x="660400" y="7874000"/>
                  </a:lnTo>
                  <a:cubicBezTo>
                    <a:pt x="295671" y="7874000"/>
                    <a:pt x="0" y="7578329"/>
                    <a:pt x="0" y="7213600"/>
                  </a:cubicBezTo>
                  <a:lnTo>
                    <a:pt x="0" y="660400"/>
                  </a:lnTo>
                  <a:cubicBezTo>
                    <a:pt x="0" y="295671"/>
                    <a:pt x="295671" y="0"/>
                    <a:pt x="660400" y="0"/>
                  </a:cubicBezTo>
                  <a:close/>
                </a:path>
              </a:pathLst>
            </a:custGeom>
            <a:solidFill>
              <a:srgbClr val="DFCDE3">
                <a:alpha val="24706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040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24000" y="3067050"/>
            <a:ext cx="4572000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7A5C82">
                    <a:alpha val="29804"/>
                  </a:srgbClr>
                </a:solidFill>
                <a:latin typeface="Lovelace"/>
                <a:ea typeface="Lovelace"/>
                <a:cs typeface="Lovelace"/>
                <a:sym typeface="Lovelace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9250" y="4362450"/>
            <a:ext cx="43815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Aprendizaje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9250" y="4876800"/>
            <a:ext cx="4381500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>
                <a:solidFill>
                  <a:srgbClr val="555555"/>
                </a:solidFill>
                <a:latin typeface="Codec Pro"/>
                <a:ea typeface="Codec Pro"/>
                <a:cs typeface="Codec Pro"/>
                <a:sym typeface="Codec Pro"/>
              </a:rPr>
              <a:t>El proyecto permitió aplicar conocimientos teóricos en un entorno real, fortaleciendo competencias técnicas y profesionales.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524250" y="2190750"/>
            <a:ext cx="571500" cy="571500"/>
            <a:chOff x="0" y="0"/>
            <a:chExt cx="762000" cy="762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DFCDE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67500" y="2476500"/>
            <a:ext cx="4953000" cy="5905500"/>
            <a:chOff x="0" y="0"/>
            <a:chExt cx="6604000" cy="787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04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6604000">
                  <a:moveTo>
                    <a:pt x="660400" y="0"/>
                  </a:moveTo>
                  <a:lnTo>
                    <a:pt x="5943600" y="0"/>
                  </a:lnTo>
                  <a:cubicBezTo>
                    <a:pt x="6308329" y="0"/>
                    <a:pt x="6604000" y="295671"/>
                    <a:pt x="6604000" y="660400"/>
                  </a:cubicBezTo>
                  <a:lnTo>
                    <a:pt x="6604000" y="7213600"/>
                  </a:lnTo>
                  <a:cubicBezTo>
                    <a:pt x="6604000" y="7578329"/>
                    <a:pt x="6308329" y="7874000"/>
                    <a:pt x="5943600" y="7874000"/>
                  </a:cubicBezTo>
                  <a:lnTo>
                    <a:pt x="660400" y="7874000"/>
                  </a:lnTo>
                  <a:cubicBezTo>
                    <a:pt x="295671" y="7874000"/>
                    <a:pt x="0" y="7578329"/>
                    <a:pt x="0" y="7213600"/>
                  </a:cubicBezTo>
                  <a:lnTo>
                    <a:pt x="0" y="660400"/>
                  </a:lnTo>
                  <a:cubicBezTo>
                    <a:pt x="0" y="295671"/>
                    <a:pt x="295671" y="0"/>
                    <a:pt x="660400" y="0"/>
                  </a:cubicBezTo>
                  <a:close/>
                </a:path>
              </a:pathLst>
            </a:custGeom>
            <a:solidFill>
              <a:srgbClr val="CBD2BA">
                <a:alpha val="24706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6040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858000" y="3067050"/>
            <a:ext cx="4572000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5C6B4A">
                    <a:alpha val="29804"/>
                  </a:srgbClr>
                </a:solidFill>
                <a:latin typeface="Lovelace"/>
                <a:ea typeface="Lovelace"/>
                <a:cs typeface="Lovelace"/>
                <a:sym typeface="Lovelace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53250" y="4362450"/>
            <a:ext cx="43815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Trabajo en equipo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53250" y="4876800"/>
            <a:ext cx="4381500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>
                <a:solidFill>
                  <a:srgbClr val="555555"/>
                </a:solidFill>
                <a:latin typeface="Codec Pro"/>
                <a:ea typeface="Codec Pro"/>
                <a:cs typeface="Codec Pro"/>
                <a:sym typeface="Codec Pro"/>
              </a:rPr>
              <a:t>La colaboración y comunicación constante fueron clave para cumplir con los objetivos planteados en cada sprint.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858250" y="2190750"/>
            <a:ext cx="571500" cy="571500"/>
            <a:chOff x="0" y="0"/>
            <a:chExt cx="762000" cy="762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CBD2B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001500" y="2476500"/>
            <a:ext cx="4953000" cy="5905500"/>
            <a:chOff x="0" y="0"/>
            <a:chExt cx="6604000" cy="7874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04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6604000">
                  <a:moveTo>
                    <a:pt x="660400" y="0"/>
                  </a:moveTo>
                  <a:lnTo>
                    <a:pt x="5943600" y="0"/>
                  </a:lnTo>
                  <a:cubicBezTo>
                    <a:pt x="6308329" y="0"/>
                    <a:pt x="6604000" y="295671"/>
                    <a:pt x="6604000" y="660400"/>
                  </a:cubicBezTo>
                  <a:lnTo>
                    <a:pt x="6604000" y="7213600"/>
                  </a:lnTo>
                  <a:cubicBezTo>
                    <a:pt x="6604000" y="7578329"/>
                    <a:pt x="6308329" y="7874000"/>
                    <a:pt x="5943600" y="7874000"/>
                  </a:cubicBezTo>
                  <a:lnTo>
                    <a:pt x="660400" y="7874000"/>
                  </a:lnTo>
                  <a:cubicBezTo>
                    <a:pt x="295671" y="7874000"/>
                    <a:pt x="0" y="7578329"/>
                    <a:pt x="0" y="7213600"/>
                  </a:cubicBezTo>
                  <a:lnTo>
                    <a:pt x="0" y="660400"/>
                  </a:lnTo>
                  <a:cubicBezTo>
                    <a:pt x="0" y="295671"/>
                    <a:pt x="295671" y="0"/>
                    <a:pt x="660400" y="0"/>
                  </a:cubicBezTo>
                  <a:close/>
                </a:path>
              </a:pathLst>
            </a:custGeom>
            <a:solidFill>
              <a:srgbClr val="EDCFD4">
                <a:alpha val="24706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6040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2192000" y="3067050"/>
            <a:ext cx="4572000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8C4A55">
                    <a:alpha val="29804"/>
                  </a:srgbClr>
                </a:solidFill>
                <a:latin typeface="Lovelace"/>
                <a:ea typeface="Lovelace"/>
                <a:cs typeface="Lovelace"/>
                <a:sym typeface="Lovelace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287250" y="4362450"/>
            <a:ext cx="43815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Impacto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87250" y="4876800"/>
            <a:ext cx="4381500" cy="119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>
                <a:solidFill>
                  <a:srgbClr val="555555"/>
                </a:solidFill>
                <a:latin typeface="Codec Pro"/>
                <a:ea typeface="Codec Pro"/>
                <a:cs typeface="Codec Pro"/>
                <a:sym typeface="Codec Pro"/>
              </a:rPr>
              <a:t>La solución desarrollada responde a una necesidad real de la comunidad, generando valor y aportando una herramienta funcional.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4192250" y="2190750"/>
            <a:ext cx="571500" cy="571500"/>
            <a:chOff x="0" y="0"/>
            <a:chExt cx="762000" cy="762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EDCFD4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7335500" y="9725025"/>
            <a:ext cx="571500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3B3B3B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32005" y="1123950"/>
            <a:ext cx="3623989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6000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Reflexión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00" y="2437131"/>
            <a:ext cx="16383000" cy="2095500"/>
            <a:chOff x="0" y="0"/>
            <a:chExt cx="21844000" cy="279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844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21844000">
                  <a:moveTo>
                    <a:pt x="279400" y="0"/>
                  </a:moveTo>
                  <a:lnTo>
                    <a:pt x="21564600" y="0"/>
                  </a:lnTo>
                  <a:cubicBezTo>
                    <a:pt x="21718908" y="0"/>
                    <a:pt x="21844000" y="125092"/>
                    <a:pt x="21844000" y="279400"/>
                  </a:cubicBezTo>
                  <a:lnTo>
                    <a:pt x="21844000" y="2514600"/>
                  </a:lnTo>
                  <a:cubicBezTo>
                    <a:pt x="21844000" y="2668908"/>
                    <a:pt x="21718908" y="2794000"/>
                    <a:pt x="21564600" y="2794000"/>
                  </a:cubicBezTo>
                  <a:lnTo>
                    <a:pt x="279400" y="2794000"/>
                  </a:lnTo>
                  <a:cubicBezTo>
                    <a:pt x="125092" y="2794000"/>
                    <a:pt x="0" y="2668908"/>
                    <a:pt x="0" y="2514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8E8E8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844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43000" y="2627631"/>
            <a:ext cx="95250" cy="1714500"/>
            <a:chOff x="0" y="0"/>
            <a:chExt cx="127000" cy="228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1079500" y="0"/>
              <a:ext cx="228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286000">
                  <a:moveTo>
                    <a:pt x="1143000" y="0"/>
                  </a:moveTo>
                  <a:cubicBezTo>
                    <a:pt x="1774261" y="0"/>
                    <a:pt x="2286000" y="511739"/>
                    <a:pt x="2286000" y="1143000"/>
                  </a:cubicBezTo>
                  <a:cubicBezTo>
                    <a:pt x="2286000" y="1774261"/>
                    <a:pt x="1774261" y="2286000"/>
                    <a:pt x="1143000" y="2286000"/>
                  </a:cubicBezTo>
                  <a:cubicBezTo>
                    <a:pt x="511739" y="2286000"/>
                    <a:pt x="0" y="1774261"/>
                    <a:pt x="0" y="1143000"/>
                  </a:cubicBezTo>
                  <a:cubicBezTo>
                    <a:pt x="0" y="511739"/>
                    <a:pt x="511739" y="0"/>
                    <a:pt x="1143000" y="0"/>
                  </a:cubicBezTo>
                  <a:close/>
                </a:path>
              </a:pathLst>
            </a:custGeom>
            <a:solidFill>
              <a:srgbClr val="DFCDE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7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28750" y="2760981"/>
            <a:ext cx="15621000" cy="38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Priscila Rodriguez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8750" y="3168651"/>
            <a:ext cx="1543050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555555"/>
                </a:solidFill>
                <a:latin typeface="Codec Pro"/>
                <a:ea typeface="Codec Pro"/>
                <a:cs typeface="Codec Pro"/>
                <a:sym typeface="Codec Pro"/>
              </a:rPr>
              <a:t>Este proyecto representa una oportunidad para aplicar los conocimientos adquiridos a lo largo de la carrera, trabajando con una necesidad real y desarrollando una solución que aporte valor a la comunidad.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52500" y="4913631"/>
            <a:ext cx="16383000" cy="2095500"/>
            <a:chOff x="0" y="0"/>
            <a:chExt cx="21844000" cy="279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844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21844000">
                  <a:moveTo>
                    <a:pt x="279400" y="0"/>
                  </a:moveTo>
                  <a:lnTo>
                    <a:pt x="21564600" y="0"/>
                  </a:lnTo>
                  <a:cubicBezTo>
                    <a:pt x="21718908" y="0"/>
                    <a:pt x="21844000" y="125092"/>
                    <a:pt x="21844000" y="279400"/>
                  </a:cubicBezTo>
                  <a:lnTo>
                    <a:pt x="21844000" y="2514600"/>
                  </a:lnTo>
                  <a:cubicBezTo>
                    <a:pt x="21844000" y="2668908"/>
                    <a:pt x="21718908" y="2794000"/>
                    <a:pt x="21564600" y="2794000"/>
                  </a:cubicBezTo>
                  <a:lnTo>
                    <a:pt x="279400" y="2794000"/>
                  </a:lnTo>
                  <a:cubicBezTo>
                    <a:pt x="125092" y="2794000"/>
                    <a:pt x="0" y="2668908"/>
                    <a:pt x="0" y="2514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8E8E8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844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3000" y="5104131"/>
            <a:ext cx="95250" cy="1714500"/>
            <a:chOff x="0" y="0"/>
            <a:chExt cx="127000" cy="228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-1079500" y="0"/>
              <a:ext cx="228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286000">
                  <a:moveTo>
                    <a:pt x="1143000" y="0"/>
                  </a:moveTo>
                  <a:cubicBezTo>
                    <a:pt x="1774261" y="0"/>
                    <a:pt x="2286000" y="511739"/>
                    <a:pt x="2286000" y="1143000"/>
                  </a:cubicBezTo>
                  <a:cubicBezTo>
                    <a:pt x="2286000" y="1774261"/>
                    <a:pt x="1774261" y="2286000"/>
                    <a:pt x="1143000" y="2286000"/>
                  </a:cubicBezTo>
                  <a:cubicBezTo>
                    <a:pt x="511739" y="2286000"/>
                    <a:pt x="0" y="1774261"/>
                    <a:pt x="0" y="1143000"/>
                  </a:cubicBezTo>
                  <a:cubicBezTo>
                    <a:pt x="0" y="511739"/>
                    <a:pt x="511739" y="0"/>
                    <a:pt x="1143000" y="0"/>
                  </a:cubicBezTo>
                  <a:close/>
                </a:path>
              </a:pathLst>
            </a:custGeom>
            <a:solidFill>
              <a:srgbClr val="CBD2B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7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28750" y="5237481"/>
            <a:ext cx="15621000" cy="38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Matias Saldivar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8750" y="5641976"/>
            <a:ext cx="15430500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555555"/>
                </a:solidFill>
                <a:latin typeface="Codec Pro"/>
                <a:ea typeface="Codec Pro"/>
                <a:cs typeface="Codec Pro"/>
                <a:sym typeface="Codec Pro"/>
              </a:rPr>
              <a:t>El desarrollo de este proyecto permite aplicar lo aprendido a lo largo de nuestros años de aprendizaje, lo que nos sitúa en una posición de exigencia necesaria. Espero que la plataforma logre cumplir nuestras expectativas actuales y logremos finalizar este proyecto de manera correcta.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52500" y="7390131"/>
            <a:ext cx="16383000" cy="2095500"/>
            <a:chOff x="0" y="0"/>
            <a:chExt cx="21844000" cy="279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844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21844000">
                  <a:moveTo>
                    <a:pt x="279400" y="0"/>
                  </a:moveTo>
                  <a:lnTo>
                    <a:pt x="21564600" y="0"/>
                  </a:lnTo>
                  <a:cubicBezTo>
                    <a:pt x="21718908" y="0"/>
                    <a:pt x="21844000" y="125092"/>
                    <a:pt x="21844000" y="279400"/>
                  </a:cubicBezTo>
                  <a:lnTo>
                    <a:pt x="21844000" y="2514600"/>
                  </a:lnTo>
                  <a:cubicBezTo>
                    <a:pt x="21844000" y="2668908"/>
                    <a:pt x="21718908" y="2794000"/>
                    <a:pt x="21564600" y="2794000"/>
                  </a:cubicBezTo>
                  <a:lnTo>
                    <a:pt x="279400" y="2794000"/>
                  </a:lnTo>
                  <a:cubicBezTo>
                    <a:pt x="125092" y="2794000"/>
                    <a:pt x="0" y="2668908"/>
                    <a:pt x="0" y="2514600"/>
                  </a:cubicBezTo>
                  <a:lnTo>
                    <a:pt x="0" y="279400"/>
                  </a:ln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8E8E8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1844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43000" y="7580631"/>
            <a:ext cx="95250" cy="1714500"/>
            <a:chOff x="0" y="0"/>
            <a:chExt cx="127000" cy="2286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-1079500" y="0"/>
              <a:ext cx="228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286000">
                  <a:moveTo>
                    <a:pt x="1143000" y="0"/>
                  </a:moveTo>
                  <a:cubicBezTo>
                    <a:pt x="1774261" y="0"/>
                    <a:pt x="2286000" y="511739"/>
                    <a:pt x="2286000" y="1143000"/>
                  </a:cubicBezTo>
                  <a:cubicBezTo>
                    <a:pt x="2286000" y="1774261"/>
                    <a:pt x="1774261" y="2286000"/>
                    <a:pt x="1143000" y="2286000"/>
                  </a:cubicBezTo>
                  <a:cubicBezTo>
                    <a:pt x="511739" y="2286000"/>
                    <a:pt x="0" y="1774261"/>
                    <a:pt x="0" y="1143000"/>
                  </a:cubicBezTo>
                  <a:cubicBezTo>
                    <a:pt x="0" y="511739"/>
                    <a:pt x="511739" y="0"/>
                    <a:pt x="1143000" y="0"/>
                  </a:cubicBezTo>
                  <a:close/>
                </a:path>
              </a:pathLst>
            </a:custGeom>
            <a:solidFill>
              <a:srgbClr val="EDCFD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27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428750" y="7713981"/>
            <a:ext cx="15621000" cy="38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Rocio Saavedra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28750" y="8118476"/>
            <a:ext cx="1543050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555555"/>
                </a:solidFill>
                <a:latin typeface="Codec Pro"/>
                <a:ea typeface="Codec Pro"/>
                <a:cs typeface="Codec Pro"/>
                <a:sym typeface="Codec Pro"/>
              </a:rPr>
              <a:t>Este proyecto me permitió poner en práctica mis conocimientos y también enfrentarme a desafíos que me ayudaron a mejorar. Aprendí la importancia del trabajo en equipo, la organización y la comunicación para poder llevar adelante un proyecto.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-5150414">
            <a:off x="14521990" y="-4611012"/>
            <a:ext cx="5811621" cy="6933604"/>
          </a:xfrm>
          <a:custGeom>
            <a:avLst/>
            <a:gdLst/>
            <a:ahLst/>
            <a:cxnLst/>
            <a:rect r="r" b="b" t="t" l="l"/>
            <a:pathLst>
              <a:path h="6933604" w="5811621">
                <a:moveTo>
                  <a:pt x="0" y="0"/>
                </a:moveTo>
                <a:lnTo>
                  <a:pt x="5811620" y="0"/>
                </a:lnTo>
                <a:lnTo>
                  <a:pt x="5811620" y="6933604"/>
                </a:lnTo>
                <a:lnTo>
                  <a:pt x="0" y="69336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8" id="28"/>
          <p:cNvSpPr txBox="true"/>
          <p:nvPr/>
        </p:nvSpPr>
        <p:spPr>
          <a:xfrm rot="0">
            <a:off x="17335500" y="9725025"/>
            <a:ext cx="571500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3B3B3B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271658">
            <a:off x="-3476408" y="-1250583"/>
            <a:ext cx="4793903" cy="4558566"/>
          </a:xfrm>
          <a:custGeom>
            <a:avLst/>
            <a:gdLst/>
            <a:ahLst/>
            <a:cxnLst/>
            <a:rect r="r" b="b" t="t" l="l"/>
            <a:pathLst>
              <a:path h="4558566" w="4793903">
                <a:moveTo>
                  <a:pt x="0" y="0"/>
                </a:moveTo>
                <a:lnTo>
                  <a:pt x="4793903" y="0"/>
                </a:lnTo>
                <a:lnTo>
                  <a:pt x="4793903" y="4558566"/>
                </a:lnTo>
                <a:lnTo>
                  <a:pt x="0" y="4558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2830070" y="7699927"/>
            <a:ext cx="4658799" cy="5582439"/>
          </a:xfrm>
          <a:custGeom>
            <a:avLst/>
            <a:gdLst/>
            <a:ahLst/>
            <a:cxnLst/>
            <a:rect r="r" b="b" t="t" l="l"/>
            <a:pathLst>
              <a:path h="5582439" w="4658799">
                <a:moveTo>
                  <a:pt x="0" y="0"/>
                </a:moveTo>
                <a:lnTo>
                  <a:pt x="4658799" y="0"/>
                </a:lnTo>
                <a:lnTo>
                  <a:pt x="4658799" y="5582439"/>
                </a:lnTo>
                <a:lnTo>
                  <a:pt x="0" y="55824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515088">
            <a:off x="7953531" y="8639116"/>
            <a:ext cx="4285120" cy="5936564"/>
          </a:xfrm>
          <a:custGeom>
            <a:avLst/>
            <a:gdLst/>
            <a:ahLst/>
            <a:cxnLst/>
            <a:rect r="r" b="b" t="t" l="l"/>
            <a:pathLst>
              <a:path h="5936564" w="4285120">
                <a:moveTo>
                  <a:pt x="0" y="0"/>
                </a:moveTo>
                <a:lnTo>
                  <a:pt x="4285120" y="0"/>
                </a:lnTo>
                <a:lnTo>
                  <a:pt x="4285120" y="5936563"/>
                </a:lnTo>
                <a:lnTo>
                  <a:pt x="0" y="59365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79483">
            <a:off x="-1652561" y="4708234"/>
            <a:ext cx="3772235" cy="8041586"/>
          </a:xfrm>
          <a:custGeom>
            <a:avLst/>
            <a:gdLst/>
            <a:ahLst/>
            <a:cxnLst/>
            <a:rect r="r" b="b" t="t" l="l"/>
            <a:pathLst>
              <a:path h="8041586" w="3772235">
                <a:moveTo>
                  <a:pt x="0" y="0"/>
                </a:moveTo>
                <a:lnTo>
                  <a:pt x="3772235" y="0"/>
                </a:lnTo>
                <a:lnTo>
                  <a:pt x="3772235" y="8041587"/>
                </a:lnTo>
                <a:lnTo>
                  <a:pt x="0" y="80415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5253525" y="-3885126"/>
            <a:ext cx="3385210" cy="6442442"/>
          </a:xfrm>
          <a:custGeom>
            <a:avLst/>
            <a:gdLst/>
            <a:ahLst/>
            <a:cxnLst/>
            <a:rect r="r" b="b" t="t" l="l"/>
            <a:pathLst>
              <a:path h="6442442" w="3385210">
                <a:moveTo>
                  <a:pt x="0" y="0"/>
                </a:moveTo>
                <a:lnTo>
                  <a:pt x="3385210" y="0"/>
                </a:lnTo>
                <a:lnTo>
                  <a:pt x="3385210" y="6442442"/>
                </a:lnTo>
                <a:lnTo>
                  <a:pt x="0" y="64424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3232211">
            <a:off x="1642580" y="-2880140"/>
            <a:ext cx="5096282" cy="5550407"/>
          </a:xfrm>
          <a:custGeom>
            <a:avLst/>
            <a:gdLst/>
            <a:ahLst/>
            <a:cxnLst/>
            <a:rect r="r" b="b" t="t" l="l"/>
            <a:pathLst>
              <a:path h="5550407" w="5096282">
                <a:moveTo>
                  <a:pt x="0" y="0"/>
                </a:moveTo>
                <a:lnTo>
                  <a:pt x="5096282" y="0"/>
                </a:lnTo>
                <a:lnTo>
                  <a:pt x="5096282" y="5550407"/>
                </a:lnTo>
                <a:lnTo>
                  <a:pt x="0" y="55504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290045" y="8493133"/>
            <a:ext cx="4261514" cy="7081065"/>
          </a:xfrm>
          <a:custGeom>
            <a:avLst/>
            <a:gdLst/>
            <a:ahLst/>
            <a:cxnLst/>
            <a:rect r="r" b="b" t="t" l="l"/>
            <a:pathLst>
              <a:path h="7081065" w="4261514">
                <a:moveTo>
                  <a:pt x="0" y="0"/>
                </a:moveTo>
                <a:lnTo>
                  <a:pt x="4261514" y="0"/>
                </a:lnTo>
                <a:lnTo>
                  <a:pt x="4261514" y="7081065"/>
                </a:lnTo>
                <a:lnTo>
                  <a:pt x="0" y="708106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-5150414">
            <a:off x="8935601" y="-5429788"/>
            <a:ext cx="5811621" cy="6933604"/>
          </a:xfrm>
          <a:custGeom>
            <a:avLst/>
            <a:gdLst/>
            <a:ahLst/>
            <a:cxnLst/>
            <a:rect r="r" b="b" t="t" l="l"/>
            <a:pathLst>
              <a:path h="6933604" w="5811621">
                <a:moveTo>
                  <a:pt x="0" y="0"/>
                </a:moveTo>
                <a:lnTo>
                  <a:pt x="5811621" y="0"/>
                </a:lnTo>
                <a:lnTo>
                  <a:pt x="5811621" y="6933604"/>
                </a:lnTo>
                <a:lnTo>
                  <a:pt x="0" y="693360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-5400000">
            <a:off x="16847073" y="6025503"/>
            <a:ext cx="4532090" cy="5407049"/>
          </a:xfrm>
          <a:custGeom>
            <a:avLst/>
            <a:gdLst/>
            <a:ahLst/>
            <a:cxnLst/>
            <a:rect r="r" b="b" t="t" l="l"/>
            <a:pathLst>
              <a:path h="5407049" w="4532090">
                <a:moveTo>
                  <a:pt x="0" y="0"/>
                </a:moveTo>
                <a:lnTo>
                  <a:pt x="4532090" y="0"/>
                </a:lnTo>
                <a:lnTo>
                  <a:pt x="4532090" y="5407049"/>
                </a:lnTo>
                <a:lnTo>
                  <a:pt x="0" y="540704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353589" y="4375817"/>
            <a:ext cx="11580823" cy="3294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303"/>
              </a:lnSpc>
            </a:pPr>
            <a:r>
              <a:rPr lang="en-US" sz="14305" spc="-829">
                <a:solidFill>
                  <a:srgbClr val="3B3B3B"/>
                </a:solidFill>
                <a:latin typeface="Lovelace"/>
                <a:ea typeface="Lovelace"/>
                <a:cs typeface="Lovelace"/>
                <a:sym typeface="Lovelace"/>
              </a:rPr>
              <a:t>¡Muchas gracias!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78138" y="3072443"/>
            <a:ext cx="12731724" cy="517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4"/>
              </a:lnSpc>
            </a:pPr>
            <a:r>
              <a:rPr lang="en-US" sz="3300" spc="-115">
                <a:solidFill>
                  <a:srgbClr val="3B3B3B"/>
                </a:solidFill>
                <a:latin typeface="Codec Pro"/>
                <a:ea typeface="Codec Pro"/>
                <a:cs typeface="Codec Pro"/>
                <a:sym typeface="Codec Pro"/>
              </a:rPr>
              <a:t>Presentado por Priscila Rodriguez, Rocio Saavedra y Matias Saldivar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9697051">
            <a:off x="16936808" y="1387038"/>
            <a:ext cx="5538592" cy="5266697"/>
          </a:xfrm>
          <a:custGeom>
            <a:avLst/>
            <a:gdLst/>
            <a:ahLst/>
            <a:cxnLst/>
            <a:rect r="r" b="b" t="t" l="l"/>
            <a:pathLst>
              <a:path h="5266697" w="5538592">
                <a:moveTo>
                  <a:pt x="0" y="0"/>
                </a:moveTo>
                <a:lnTo>
                  <a:pt x="5538592" y="0"/>
                </a:lnTo>
                <a:lnTo>
                  <a:pt x="5538592" y="5266697"/>
                </a:lnTo>
                <a:lnTo>
                  <a:pt x="0" y="5266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335500" y="9725025"/>
            <a:ext cx="571500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3B3B3B">
                    <a:alpha val="60000"/>
                  </a:srgbClr>
                </a:solidFill>
                <a:latin typeface="Codec Pro"/>
                <a:ea typeface="Codec Pro"/>
                <a:cs typeface="Codec Pro"/>
                <a:sym typeface="Codec Pro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DAHQh8vW_2Y</dc:identifier>
  <dcterms:modified xsi:type="dcterms:W3CDTF">2011-08-01T06:04:30Z</dcterms:modified>
  <cp:revision>1</cp:revision>
  <dc:title>Raiz quilpue</dc:title>
</cp:coreProperties>
</file>